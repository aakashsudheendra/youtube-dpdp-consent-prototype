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" name="Google Shape;30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" name="Google Shape;55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" name="Google Shape;78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" name="Google Shape;110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5" name="Google Shape;165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4" name="Google Shape;194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1" name="Google Shape;221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7" name="Google Shape;247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3" name="Google Shape;283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Relationship Id="rId4" Type="http://schemas.openxmlformats.org/officeDocument/2006/relationships/image" Target="../media/image9.png"/><Relationship Id="rId5" Type="http://schemas.openxmlformats.org/officeDocument/2006/relationships/image" Target="../media/image1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2.png"/><Relationship Id="rId4" Type="http://schemas.openxmlformats.org/officeDocument/2006/relationships/image" Target="../media/image5.png"/><Relationship Id="rId5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8.png"/><Relationship Id="rId4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Relationship Id="rId4" Type="http://schemas.openxmlformats.org/officeDocument/2006/relationships/image" Target="../media/image18.png"/><Relationship Id="rId5" Type="http://schemas.openxmlformats.org/officeDocument/2006/relationships/image" Target="../media/image17.png"/><Relationship Id="rId6" Type="http://schemas.openxmlformats.org/officeDocument/2006/relationships/image" Target="../media/image19.png"/><Relationship Id="rId7" Type="http://schemas.openxmlformats.org/officeDocument/2006/relationships/image" Target="../media/image11.png"/><Relationship Id="rId8" Type="http://schemas.openxmlformats.org/officeDocument/2006/relationships/image" Target="../media/image1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6.png"/><Relationship Id="rId4" Type="http://schemas.openxmlformats.org/officeDocument/2006/relationships/image" Target="../media/image30.png"/><Relationship Id="rId5" Type="http://schemas.openxmlformats.org/officeDocument/2006/relationships/image" Target="../media/image3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1.png"/><Relationship Id="rId4" Type="http://schemas.openxmlformats.org/officeDocument/2006/relationships/image" Target="../media/image25.png"/><Relationship Id="rId5" Type="http://schemas.openxmlformats.org/officeDocument/2006/relationships/image" Target="../media/image2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8.png"/><Relationship Id="rId4" Type="http://schemas.openxmlformats.org/officeDocument/2006/relationships/image" Target="../media/image2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4.png"/><Relationship Id="rId4" Type="http://schemas.openxmlformats.org/officeDocument/2006/relationships/image" Target="../media/image32.png"/><Relationship Id="rId5" Type="http://schemas.openxmlformats.org/officeDocument/2006/relationships/image" Target="../media/image20.png"/><Relationship Id="rId6" Type="http://schemas.openxmlformats.org/officeDocument/2006/relationships/image" Target="../media/image2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3.png"/><Relationship Id="rId4" Type="http://schemas.openxmlformats.org/officeDocument/2006/relationships/image" Target="../media/image20.png"/><Relationship Id="rId5" Type="http://schemas.openxmlformats.org/officeDocument/2006/relationships/image" Target="../media/image18.png"/><Relationship Id="rId6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2A3B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5989320" y="685800"/>
            <a:ext cx="3108960" cy="3108960"/>
          </a:xfrm>
          <a:prstGeom prst="ellipse">
            <a:avLst/>
          </a:prstGeom>
          <a:solidFill>
            <a:srgbClr val="1434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6172200" y="1325880"/>
            <a:ext cx="1874520" cy="1874520"/>
          </a:xfrm>
          <a:prstGeom prst="ellipse">
            <a:avLst/>
          </a:prstGeom>
          <a:solidFill>
            <a:srgbClr val="0FA39E"/>
          </a:solidFill>
          <a:ln>
            <a:noFill/>
          </a:ln>
          <a:effectLst>
            <a:outerShdw blurRad="114300" rotWithShape="0" algn="bl" dir="5400000" dist="38100">
              <a:srgbClr val="8FA3B0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8" name="Google Shape;18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78320" y="1832000"/>
            <a:ext cx="862279" cy="862279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/>
          <p:nvPr/>
        </p:nvSpPr>
        <p:spPr>
          <a:xfrm>
            <a:off x="7543800" y="2788920"/>
            <a:ext cx="1234440" cy="1234440"/>
          </a:xfrm>
          <a:prstGeom prst="ellipse">
            <a:avLst/>
          </a:prstGeom>
          <a:solidFill>
            <a:srgbClr val="FF6B4A"/>
          </a:solidFill>
          <a:ln>
            <a:noFill/>
          </a:ln>
          <a:effectLst>
            <a:outerShdw blurRad="114300" rotWithShape="0" algn="bl" dir="5400000" dist="38100">
              <a:srgbClr val="8FA3B0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0" name="Google Shape;20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52410" y="3097530"/>
            <a:ext cx="617220" cy="617220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3"/>
          <p:cNvSpPr/>
          <p:nvPr/>
        </p:nvSpPr>
        <p:spPr>
          <a:xfrm>
            <a:off x="5989320" y="3063240"/>
            <a:ext cx="868680" cy="868680"/>
          </a:xfrm>
          <a:prstGeom prst="ellipse">
            <a:avLst/>
          </a:prstGeom>
          <a:solidFill>
            <a:srgbClr val="2DD4BF"/>
          </a:solidFill>
          <a:ln>
            <a:noFill/>
          </a:ln>
          <a:effectLst>
            <a:outerShdw blurRad="114300" rotWithShape="0" algn="bl" dir="5400000" dist="38100">
              <a:srgbClr val="8FA3B0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2" name="Google Shape;22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41237" y="3315157"/>
            <a:ext cx="364846" cy="364846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/>
          <p:nvPr/>
        </p:nvSpPr>
        <p:spPr>
          <a:xfrm>
            <a:off x="5471820" y="638383"/>
            <a:ext cx="3681300" cy="3814200"/>
          </a:xfrm>
          <a:prstGeom prst="ellipse">
            <a:avLst/>
          </a:prstGeom>
          <a:noFill/>
          <a:ln cap="flat" cmpd="sng" w="12700">
            <a:solidFill>
              <a:srgbClr val="2750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3"/>
          <p:cNvSpPr/>
          <p:nvPr/>
        </p:nvSpPr>
        <p:spPr>
          <a:xfrm>
            <a:off x="640080" y="685800"/>
            <a:ext cx="7863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2DD4BF"/>
                </a:solidFill>
                <a:latin typeface="Calibri"/>
                <a:ea typeface="Calibri"/>
                <a:cs typeface="Calibri"/>
                <a:sym typeface="Calibri"/>
              </a:rPr>
              <a:t>VEDANTU  ·  PRODUCT MANAGEMENT ASSIGNMENT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3"/>
          <p:cNvSpPr/>
          <p:nvPr/>
        </p:nvSpPr>
        <p:spPr>
          <a:xfrm>
            <a:off x="621792" y="1234440"/>
            <a:ext cx="548640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Calibri"/>
              <a:buNone/>
            </a:pPr>
            <a:r>
              <a:rPr b="1" i="0" lang="en-US" sz="5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Consent,</a:t>
            </a:r>
            <a:endParaRPr b="0" i="0" sz="5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Calibri"/>
              <a:buNone/>
            </a:pPr>
            <a:r>
              <a:rPr b="1" i="0" lang="en-US" sz="5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by Design.</a:t>
            </a:r>
            <a:endParaRPr b="0" i="0" sz="5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3"/>
          <p:cNvSpPr/>
          <p:nvPr/>
        </p:nvSpPr>
        <p:spPr>
          <a:xfrm>
            <a:off x="640080" y="3063240"/>
            <a:ext cx="53035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AEC4D6"/>
              </a:buClr>
              <a:buSzPts val="1550"/>
              <a:buFont typeface="Calibri"/>
              <a:buNone/>
            </a:pPr>
            <a:r>
              <a:rPr b="0" i="0" lang="en-US" sz="1550" u="none" cap="none" strike="noStrike">
                <a:solidFill>
                  <a:srgbClr val="AEC4D6"/>
                </a:solidFill>
                <a:latin typeface="Calibri"/>
                <a:ea typeface="Calibri"/>
                <a:cs typeface="Calibri"/>
                <a:sym typeface="Calibri"/>
              </a:rPr>
              <a:t>Making YouTube's children's-data experience DPDP-compliant  without the friction that drives families away.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3"/>
          <p:cNvSpPr/>
          <p:nvPr/>
        </p:nvSpPr>
        <p:spPr>
          <a:xfrm>
            <a:off x="640080" y="4343400"/>
            <a:ext cx="7315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Gollapalli Aakash Sudheendra</a:t>
            </a:r>
            <a:r>
              <a:rPr b="0" i="0" lang="en-US" sz="1200" u="none" cap="none" strike="noStrike">
                <a:solidFill>
                  <a:srgbClr val="7E96A6"/>
                </a:solidFill>
                <a:latin typeface="Calibri"/>
                <a:ea typeface="Calibri"/>
                <a:cs typeface="Calibri"/>
                <a:sym typeface="Calibri"/>
              </a:rPr>
              <a:t>     Product Thinking Deck  ·  July 2026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9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"/>
          <p:cNvSpPr/>
          <p:nvPr/>
        </p:nvSpPr>
        <p:spPr>
          <a:xfrm>
            <a:off x="640080" y="457200"/>
            <a:ext cx="7863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4A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FF6B4A"/>
                </a:solidFill>
                <a:latin typeface="Calibri"/>
                <a:ea typeface="Calibri"/>
                <a:cs typeface="Calibri"/>
                <a:sym typeface="Calibri"/>
              </a:rPr>
              <a:t>THE PROBLEM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640080" y="777240"/>
            <a:ext cx="79552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0E2A3B"/>
              </a:buClr>
              <a:buSzPts val="2700"/>
              <a:buFont typeface="Calibri"/>
              <a:buNone/>
            </a:pPr>
            <a:r>
              <a:rPr b="1" i="0" lang="en-US" sz="2700" u="none" cap="none" strike="noStrike">
                <a:solidFill>
                  <a:srgbClr val="0E2A3B"/>
                </a:solidFill>
                <a:latin typeface="Calibri"/>
                <a:ea typeface="Calibri"/>
                <a:cs typeface="Calibri"/>
                <a:sym typeface="Calibri"/>
              </a:rPr>
              <a:t>YouTube collects children's data. India's law now says: not without a verified parent.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4"/>
          <p:cNvSpPr/>
          <p:nvPr/>
        </p:nvSpPr>
        <p:spPr>
          <a:xfrm>
            <a:off x="640080" y="1847088"/>
            <a:ext cx="7863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A39E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0FA39E"/>
                </a:solidFill>
                <a:latin typeface="Calibri"/>
                <a:ea typeface="Calibri"/>
                <a:cs typeface="Calibri"/>
                <a:sym typeface="Calibri"/>
              </a:rPr>
              <a:t>Focus  </a:t>
            </a:r>
            <a:r>
              <a:rPr b="0" i="0" lang="en-US" sz="1350" u="none" cap="none" strike="noStrike">
                <a:solidFill>
                  <a:srgbClr val="5E7180"/>
                </a:solidFill>
                <a:latin typeface="Calibri"/>
                <a:ea typeface="Calibri"/>
                <a:cs typeface="Calibri"/>
                <a:sym typeface="Calibri"/>
              </a:rPr>
              <a:t>the sign-up &amp; consent flow for under-18 users on YouTube (India).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640080" y="2286000"/>
            <a:ext cx="2560320" cy="1783080"/>
          </a:xfrm>
          <a:prstGeom prst="roundRect">
            <a:avLst>
              <a:gd fmla="val 6154" name="adj"/>
            </a:avLst>
          </a:prstGeom>
          <a:solidFill>
            <a:srgbClr val="FFFFFF"/>
          </a:solidFill>
          <a:ln>
            <a:noFill/>
          </a:ln>
          <a:effectLst>
            <a:outerShdw blurRad="114300" rotWithShape="0" algn="bl" dir="5400000" dist="38100">
              <a:srgbClr val="8FA3B0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4"/>
          <p:cNvSpPr/>
          <p:nvPr/>
        </p:nvSpPr>
        <p:spPr>
          <a:xfrm>
            <a:off x="896112" y="2523744"/>
            <a:ext cx="658368" cy="658368"/>
          </a:xfrm>
          <a:prstGeom prst="ellipse">
            <a:avLst/>
          </a:prstGeom>
          <a:solidFill>
            <a:srgbClr val="FF6B4A"/>
          </a:solidFill>
          <a:ln>
            <a:noFill/>
          </a:ln>
          <a:effectLst>
            <a:outerShdw blurRad="114300" rotWithShape="0" algn="bl" dir="5400000" dist="38100">
              <a:srgbClr val="8FA3B0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8" name="Google Shape;38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0704" y="2688336"/>
            <a:ext cx="329184" cy="329184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4"/>
          <p:cNvSpPr/>
          <p:nvPr/>
        </p:nvSpPr>
        <p:spPr>
          <a:xfrm>
            <a:off x="1664208" y="2615184"/>
            <a:ext cx="1463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2A3B"/>
              </a:buClr>
              <a:buSzPts val="1650"/>
              <a:buFont typeface="Calibri"/>
              <a:buNone/>
            </a:pPr>
            <a:r>
              <a:rPr b="1" i="0" lang="en-US" sz="1650" u="none" cap="none" strike="noStrike">
                <a:solidFill>
                  <a:srgbClr val="0E2A3B"/>
                </a:solidFill>
                <a:latin typeface="Calibri"/>
                <a:ea typeface="Calibri"/>
                <a:cs typeface="Calibri"/>
                <a:sym typeface="Calibri"/>
              </a:rPr>
              <a:t>Legal risk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896112" y="3310128"/>
            <a:ext cx="2084832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5E7180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E7180"/>
                </a:solidFill>
                <a:latin typeface="Calibri"/>
                <a:ea typeface="Calibri"/>
                <a:cs typeface="Calibri"/>
                <a:sym typeface="Calibri"/>
              </a:rPr>
              <a:t>Mishandling a child's data carries penalties up to ₹200 crore under the DPDP Act.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3355848" y="2286000"/>
            <a:ext cx="2560320" cy="1783080"/>
          </a:xfrm>
          <a:prstGeom prst="roundRect">
            <a:avLst>
              <a:gd fmla="val 6154" name="adj"/>
            </a:avLst>
          </a:prstGeom>
          <a:solidFill>
            <a:srgbClr val="FFFFFF"/>
          </a:solidFill>
          <a:ln>
            <a:noFill/>
          </a:ln>
          <a:effectLst>
            <a:outerShdw blurRad="114300" rotWithShape="0" algn="bl" dir="5400000" dist="38100">
              <a:srgbClr val="8FA3B0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4"/>
          <p:cNvSpPr/>
          <p:nvPr/>
        </p:nvSpPr>
        <p:spPr>
          <a:xfrm>
            <a:off x="3611880" y="2523744"/>
            <a:ext cx="658368" cy="658368"/>
          </a:xfrm>
          <a:prstGeom prst="ellipse">
            <a:avLst/>
          </a:prstGeom>
          <a:solidFill>
            <a:srgbClr val="0FA39E"/>
          </a:solidFill>
          <a:ln>
            <a:noFill/>
          </a:ln>
          <a:effectLst>
            <a:outerShdw blurRad="114300" rotWithShape="0" algn="bl" dir="5400000" dist="38100">
              <a:srgbClr val="8FA3B0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3" name="Google Shape;43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776472" y="2688336"/>
            <a:ext cx="329184" cy="329184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4"/>
          <p:cNvSpPr/>
          <p:nvPr/>
        </p:nvSpPr>
        <p:spPr>
          <a:xfrm>
            <a:off x="4379976" y="2615184"/>
            <a:ext cx="1463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2A3B"/>
              </a:buClr>
              <a:buSzPts val="1650"/>
              <a:buFont typeface="Calibri"/>
              <a:buNone/>
            </a:pPr>
            <a:r>
              <a:rPr b="1" i="0" lang="en-US" sz="1650" u="none" cap="none" strike="noStrike">
                <a:solidFill>
                  <a:srgbClr val="0E2A3B"/>
                </a:solidFill>
                <a:latin typeface="Calibri"/>
                <a:ea typeface="Calibri"/>
                <a:cs typeface="Calibri"/>
                <a:sym typeface="Calibri"/>
              </a:rPr>
              <a:t>Child safety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3611880" y="3310128"/>
            <a:ext cx="2084832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5E7180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E7180"/>
                </a:solidFill>
                <a:latin typeface="Calibri"/>
                <a:ea typeface="Calibri"/>
                <a:cs typeface="Calibri"/>
                <a:sym typeface="Calibri"/>
              </a:rPr>
              <a:t>Under-18s can't be tracked, profiled, or shown targeted ads — the Act's hardest line.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6071616" y="2286000"/>
            <a:ext cx="2560320" cy="1783080"/>
          </a:xfrm>
          <a:prstGeom prst="roundRect">
            <a:avLst>
              <a:gd fmla="val 6154" name="adj"/>
            </a:avLst>
          </a:prstGeom>
          <a:solidFill>
            <a:srgbClr val="FFFFFF"/>
          </a:solidFill>
          <a:ln>
            <a:noFill/>
          </a:ln>
          <a:effectLst>
            <a:outerShdw blurRad="114300" rotWithShape="0" algn="bl" dir="5400000" dist="38100">
              <a:srgbClr val="8FA3B0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4"/>
          <p:cNvSpPr/>
          <p:nvPr/>
        </p:nvSpPr>
        <p:spPr>
          <a:xfrm>
            <a:off x="6327648" y="2523744"/>
            <a:ext cx="658368" cy="658368"/>
          </a:xfrm>
          <a:prstGeom prst="ellipse">
            <a:avLst/>
          </a:prstGeom>
          <a:solidFill>
            <a:srgbClr val="F2A93B"/>
          </a:solidFill>
          <a:ln>
            <a:noFill/>
          </a:ln>
          <a:effectLst>
            <a:outerShdw blurRad="114300" rotWithShape="0" algn="bl" dir="5400000" dist="38100">
              <a:srgbClr val="8FA3B0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8" name="Google Shape;48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92240" y="2688336"/>
            <a:ext cx="329184" cy="329184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4"/>
          <p:cNvSpPr/>
          <p:nvPr/>
        </p:nvSpPr>
        <p:spPr>
          <a:xfrm>
            <a:off x="7095744" y="2615184"/>
            <a:ext cx="1463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2A3B"/>
              </a:buClr>
              <a:buSzPts val="1650"/>
              <a:buFont typeface="Calibri"/>
              <a:buNone/>
            </a:pPr>
            <a:r>
              <a:rPr b="1" i="0" lang="en-US" sz="1650" u="none" cap="none" strike="noStrike">
                <a:solidFill>
                  <a:srgbClr val="0E2A3B"/>
                </a:solidFill>
                <a:latin typeface="Calibri"/>
                <a:ea typeface="Calibri"/>
                <a:cs typeface="Calibri"/>
                <a:sym typeface="Calibri"/>
              </a:rPr>
              <a:t>User trust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4"/>
          <p:cNvSpPr/>
          <p:nvPr/>
        </p:nvSpPr>
        <p:spPr>
          <a:xfrm>
            <a:off x="6327648" y="3310128"/>
            <a:ext cx="2084832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5E7180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E7180"/>
                </a:solidFill>
                <a:latin typeface="Calibri"/>
                <a:ea typeface="Calibri"/>
                <a:cs typeface="Calibri"/>
                <a:sym typeface="Calibri"/>
              </a:rPr>
              <a:t>Only ~16% of Indians understand the law. A clear consent flow becomes a trust advantage.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4"/>
          <p:cNvSpPr/>
          <p:nvPr/>
        </p:nvSpPr>
        <p:spPr>
          <a:xfrm>
            <a:off x="640080" y="4279392"/>
            <a:ext cx="7863840" cy="566928"/>
          </a:xfrm>
          <a:prstGeom prst="roundRect">
            <a:avLst>
              <a:gd fmla="val 12903" name="adj"/>
            </a:avLst>
          </a:prstGeom>
          <a:solidFill>
            <a:srgbClr val="EAF6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4"/>
          <p:cNvSpPr/>
          <p:nvPr/>
        </p:nvSpPr>
        <p:spPr>
          <a:xfrm>
            <a:off x="868680" y="4279392"/>
            <a:ext cx="74066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A39E"/>
              </a:buClr>
              <a:buSzPts val="1080"/>
              <a:buFont typeface="Calibri"/>
              <a:buNone/>
            </a:pPr>
            <a:r>
              <a:rPr b="1" i="0" lang="en-US" sz="1080" u="none" cap="none" strike="noStrike">
                <a:solidFill>
                  <a:srgbClr val="0FA39E"/>
                </a:solidFill>
                <a:latin typeface="Calibri"/>
                <a:ea typeface="Calibri"/>
                <a:cs typeface="Calibri"/>
                <a:sym typeface="Calibri"/>
              </a:rPr>
              <a:t>Assumptions   </a:t>
            </a:r>
            <a:r>
              <a:rPr b="0" i="0" lang="en-US" sz="1080" u="none" cap="none" strike="noStrike">
                <a:solidFill>
                  <a:srgbClr val="0E2A3B"/>
                </a:solidFill>
                <a:latin typeface="Calibri"/>
                <a:ea typeface="Calibri"/>
                <a:cs typeface="Calibri"/>
                <a:sym typeface="Calibri"/>
              </a:rPr>
              <a:t>YouTube (India) uses self-declared age today  ·  I focus on consumer sign-up, not Workspace/enterprise  ·  DPDP children's rules become enforceable May 2027.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9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5"/>
          <p:cNvSpPr/>
          <p:nvPr/>
        </p:nvSpPr>
        <p:spPr>
          <a:xfrm>
            <a:off x="640080" y="457200"/>
            <a:ext cx="7863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4A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FF6B4A"/>
                </a:solidFill>
                <a:latin typeface="Calibri"/>
                <a:ea typeface="Calibri"/>
                <a:cs typeface="Calibri"/>
                <a:sym typeface="Calibri"/>
              </a:rPr>
              <a:t>WHO WE'RE DESIGNING FOR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5"/>
          <p:cNvSpPr/>
          <p:nvPr/>
        </p:nvSpPr>
        <p:spPr>
          <a:xfrm>
            <a:off x="640080" y="722522"/>
            <a:ext cx="7955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0E2A3B"/>
              </a:buClr>
              <a:buSzPts val="2900"/>
              <a:buFont typeface="Calibri"/>
              <a:buNone/>
            </a:pPr>
            <a:r>
              <a:rPr b="1" i="0" lang="en-US" sz="2900" u="none" cap="none" strike="noStrike">
                <a:solidFill>
                  <a:srgbClr val="0E2A3B"/>
                </a:solidFill>
                <a:latin typeface="Calibri"/>
                <a:ea typeface="Calibri"/>
                <a:cs typeface="Calibri"/>
                <a:sym typeface="Calibri"/>
              </a:rPr>
              <a:t>Two people, one account — and both feel the friction.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5"/>
          <p:cNvSpPr/>
          <p:nvPr/>
        </p:nvSpPr>
        <p:spPr>
          <a:xfrm>
            <a:off x="640080" y="1600200"/>
            <a:ext cx="3794760" cy="2395728"/>
          </a:xfrm>
          <a:prstGeom prst="roundRect">
            <a:avLst>
              <a:gd fmla="val 4580" name="adj"/>
            </a:avLst>
          </a:prstGeom>
          <a:solidFill>
            <a:srgbClr val="FFFFFF"/>
          </a:solidFill>
          <a:ln>
            <a:noFill/>
          </a:ln>
          <a:effectLst>
            <a:outerShdw blurRad="114300" rotWithShape="0" algn="bl" dir="5400000" dist="38100">
              <a:srgbClr val="8FA3B0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5"/>
          <p:cNvSpPr/>
          <p:nvPr/>
        </p:nvSpPr>
        <p:spPr>
          <a:xfrm>
            <a:off x="914400" y="1874520"/>
            <a:ext cx="822960" cy="822960"/>
          </a:xfrm>
          <a:prstGeom prst="ellipse">
            <a:avLst/>
          </a:prstGeom>
          <a:solidFill>
            <a:srgbClr val="0FA39E"/>
          </a:solidFill>
          <a:ln>
            <a:noFill/>
          </a:ln>
          <a:effectLst>
            <a:outerShdw blurRad="114300" rotWithShape="0" algn="bl" dir="5400000" dist="38100">
              <a:srgbClr val="8FA3B0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2" name="Google Shape;62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0140" y="208026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5"/>
          <p:cNvSpPr/>
          <p:nvPr/>
        </p:nvSpPr>
        <p:spPr>
          <a:xfrm>
            <a:off x="1874520" y="1874520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2A3B"/>
              </a:buClr>
              <a:buSzPts val="1900"/>
              <a:buFont typeface="Calibri"/>
              <a:buNone/>
            </a:pPr>
            <a:r>
              <a:rPr b="1" i="0" lang="en-US" sz="1900" u="none" cap="none" strike="noStrike">
                <a:solidFill>
                  <a:srgbClr val="0E2A3B"/>
                </a:solidFill>
                <a:latin typeface="Calibri"/>
                <a:ea typeface="Calibri"/>
                <a:cs typeface="Calibri"/>
                <a:sym typeface="Calibri"/>
              </a:rPr>
              <a:t>Meera · 42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5"/>
          <p:cNvSpPr/>
          <p:nvPr/>
        </p:nvSpPr>
        <p:spPr>
          <a:xfrm>
            <a:off x="1874520" y="2267712"/>
            <a:ext cx="2377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A39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FA39E"/>
                </a:solidFill>
                <a:latin typeface="Calibri"/>
                <a:ea typeface="Calibri"/>
                <a:cs typeface="Calibri"/>
                <a:sym typeface="Calibri"/>
              </a:rPr>
              <a:t>Parent · Pune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5"/>
          <p:cNvSpPr/>
          <p:nvPr/>
        </p:nvSpPr>
        <p:spPr>
          <a:xfrm>
            <a:off x="914400" y="2761488"/>
            <a:ext cx="32461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7180"/>
              </a:buClr>
              <a:buSzPts val="1150"/>
              <a:buFont typeface="Calibri"/>
              <a:buNone/>
            </a:pPr>
            <a:r>
              <a:rPr b="0" i="1" lang="en-US" sz="1150" u="none" cap="none" strike="noStrike">
                <a:solidFill>
                  <a:srgbClr val="5E7180"/>
                </a:solidFill>
                <a:latin typeface="Calibri"/>
                <a:ea typeface="Calibri"/>
                <a:cs typeface="Calibri"/>
                <a:sym typeface="Calibri"/>
              </a:rPr>
              <a:t>Phone-first, time-poor; worries about what her kids see and share online.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5"/>
          <p:cNvSpPr/>
          <p:nvPr/>
        </p:nvSpPr>
        <p:spPr>
          <a:xfrm>
            <a:off x="914400" y="3246120"/>
            <a:ext cx="329184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152400" lvl="0" marL="152400" marR="0" rtl="0" algn="l">
              <a:spcBef>
                <a:spcPts val="0"/>
              </a:spcBef>
              <a:spcAft>
                <a:spcPts val="0"/>
              </a:spcAft>
              <a:buClr>
                <a:srgbClr val="12283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2283A"/>
                </a:solidFill>
                <a:latin typeface="Calibri"/>
                <a:ea typeface="Calibri"/>
                <a:cs typeface="Calibri"/>
                <a:sym typeface="Calibri"/>
              </a:rPr>
              <a:t>No visibility or control over what data YouTube collects on her 14-year-old.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spcBef>
                <a:spcPts val="300"/>
              </a:spcBef>
              <a:spcAft>
                <a:spcPts val="0"/>
              </a:spcAft>
              <a:buClr>
                <a:srgbClr val="12283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2283A"/>
                </a:solidFill>
                <a:latin typeface="Calibri"/>
                <a:ea typeface="Calibri"/>
                <a:cs typeface="Calibri"/>
                <a:sym typeface="Calibri"/>
              </a:rPr>
              <a:t>Consent today is invisible — buried in policies she never reads.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5"/>
          <p:cNvSpPr/>
          <p:nvPr/>
        </p:nvSpPr>
        <p:spPr>
          <a:xfrm>
            <a:off x="4709160" y="1600200"/>
            <a:ext cx="3794760" cy="2395728"/>
          </a:xfrm>
          <a:prstGeom prst="roundRect">
            <a:avLst>
              <a:gd fmla="val 4580" name="adj"/>
            </a:avLst>
          </a:prstGeom>
          <a:solidFill>
            <a:srgbClr val="FFFFFF"/>
          </a:solidFill>
          <a:ln>
            <a:noFill/>
          </a:ln>
          <a:effectLst>
            <a:outerShdw blurRad="114300" rotWithShape="0" algn="bl" dir="5400000" dist="38100">
              <a:srgbClr val="8FA3B0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5"/>
          <p:cNvSpPr/>
          <p:nvPr/>
        </p:nvSpPr>
        <p:spPr>
          <a:xfrm>
            <a:off x="4983480" y="1874520"/>
            <a:ext cx="822960" cy="822960"/>
          </a:xfrm>
          <a:prstGeom prst="ellipse">
            <a:avLst/>
          </a:prstGeom>
          <a:solidFill>
            <a:srgbClr val="FF6B4A"/>
          </a:solidFill>
          <a:ln>
            <a:noFill/>
          </a:ln>
          <a:effectLst>
            <a:outerShdw blurRad="114300" rotWithShape="0" algn="bl" dir="5400000" dist="38100">
              <a:srgbClr val="8FA3B0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9" name="Google Shape;69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89220" y="208026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5"/>
          <p:cNvSpPr/>
          <p:nvPr/>
        </p:nvSpPr>
        <p:spPr>
          <a:xfrm>
            <a:off x="5943600" y="1874520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2A3B"/>
              </a:buClr>
              <a:buSzPts val="1900"/>
              <a:buFont typeface="Calibri"/>
              <a:buNone/>
            </a:pPr>
            <a:r>
              <a:rPr b="1" i="0" lang="en-US" sz="1900" u="none" cap="none" strike="noStrike">
                <a:solidFill>
                  <a:srgbClr val="0E2A3B"/>
                </a:solidFill>
                <a:latin typeface="Calibri"/>
                <a:ea typeface="Calibri"/>
                <a:cs typeface="Calibri"/>
                <a:sym typeface="Calibri"/>
              </a:rPr>
              <a:t>Aarav · 14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5"/>
          <p:cNvSpPr/>
          <p:nvPr/>
        </p:nvSpPr>
        <p:spPr>
          <a:xfrm>
            <a:off x="5943600" y="2267712"/>
            <a:ext cx="2377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A39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FA39E"/>
                </a:solidFill>
                <a:latin typeface="Calibri"/>
                <a:ea typeface="Calibri"/>
                <a:cs typeface="Calibri"/>
                <a:sym typeface="Calibri"/>
              </a:rPr>
              <a:t>Student · on YouTube daily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5"/>
          <p:cNvSpPr/>
          <p:nvPr/>
        </p:nvSpPr>
        <p:spPr>
          <a:xfrm>
            <a:off x="4983480" y="2761488"/>
            <a:ext cx="32461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7180"/>
              </a:buClr>
              <a:buSzPts val="1150"/>
              <a:buFont typeface="Calibri"/>
              <a:buNone/>
            </a:pPr>
            <a:r>
              <a:rPr b="0" i="1" lang="en-US" sz="1150" u="none" cap="none" strike="noStrike">
                <a:solidFill>
                  <a:srgbClr val="5E7180"/>
                </a:solidFill>
                <a:latin typeface="Calibri"/>
                <a:ea typeface="Calibri"/>
                <a:cs typeface="Calibri"/>
                <a:sym typeface="Calibri"/>
              </a:rPr>
              <a:t>Uses YouTube for study and fun; wants to get in fast.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5"/>
          <p:cNvSpPr/>
          <p:nvPr/>
        </p:nvSpPr>
        <p:spPr>
          <a:xfrm>
            <a:off x="4983480" y="3246120"/>
            <a:ext cx="329184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152400" lvl="0" marL="152400" marR="0" rtl="0" algn="l">
              <a:spcBef>
                <a:spcPts val="0"/>
              </a:spcBef>
              <a:spcAft>
                <a:spcPts val="0"/>
              </a:spcAft>
              <a:buClr>
                <a:srgbClr val="12283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2283A"/>
                </a:solidFill>
                <a:latin typeface="Calibri"/>
                <a:ea typeface="Calibri"/>
                <a:cs typeface="Calibri"/>
                <a:sym typeface="Calibri"/>
              </a:rPr>
              <a:t>Friction and dead-ends kill his flow.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spcBef>
                <a:spcPts val="300"/>
              </a:spcBef>
              <a:spcAft>
                <a:spcPts val="0"/>
              </a:spcAft>
              <a:buClr>
                <a:srgbClr val="12283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2283A"/>
                </a:solidFill>
                <a:latin typeface="Calibri"/>
                <a:ea typeface="Calibri"/>
                <a:cs typeface="Calibri"/>
                <a:sym typeface="Calibri"/>
              </a:rPr>
              <a:t>Will lie about his age to skip barriers — defeating the safeguard.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5"/>
          <p:cNvSpPr/>
          <p:nvPr/>
        </p:nvSpPr>
        <p:spPr>
          <a:xfrm>
            <a:off x="640080" y="4160520"/>
            <a:ext cx="7863840" cy="713232"/>
          </a:xfrm>
          <a:prstGeom prst="roundRect">
            <a:avLst>
              <a:gd fmla="val 12821" name="adj"/>
            </a:avLst>
          </a:prstGeom>
          <a:solidFill>
            <a:srgbClr val="0E2A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5"/>
          <p:cNvSpPr/>
          <p:nvPr/>
        </p:nvSpPr>
        <p:spPr>
          <a:xfrm>
            <a:off x="868680" y="4160520"/>
            <a:ext cx="740664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2DD4BF"/>
                </a:solidFill>
                <a:latin typeface="Calibri"/>
                <a:ea typeface="Calibri"/>
                <a:cs typeface="Calibri"/>
                <a:sym typeface="Calibri"/>
              </a:rPr>
              <a:t>The tension:  </a:t>
            </a:r>
            <a:r>
              <a:rPr b="0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if consent is painful for Meera, Aarav routes around it by faking his age. The design must satisfy the parent </a:t>
            </a:r>
            <a:r>
              <a:rPr b="0" i="1" lang="en-US" sz="1250" u="none" cap="none" strike="noStrike">
                <a:solidFill>
                  <a:srgbClr val="2DD4BF"/>
                </a:solidFill>
                <a:latin typeface="Calibri"/>
                <a:ea typeface="Calibri"/>
                <a:cs typeface="Calibri"/>
                <a:sym typeface="Calibri"/>
              </a:rPr>
              <a:t>and</a:t>
            </a:r>
            <a:r>
              <a:rPr b="0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respect the teen's time.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9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6"/>
          <p:cNvSpPr/>
          <p:nvPr/>
        </p:nvSpPr>
        <p:spPr>
          <a:xfrm>
            <a:off x="640080" y="457200"/>
            <a:ext cx="7863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4A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FF6B4A"/>
                </a:solidFill>
                <a:latin typeface="Calibri"/>
                <a:ea typeface="Calibri"/>
                <a:cs typeface="Calibri"/>
                <a:sym typeface="Calibri"/>
              </a:rPr>
              <a:t>TODAY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6"/>
          <p:cNvSpPr/>
          <p:nvPr/>
        </p:nvSpPr>
        <p:spPr>
          <a:xfrm>
            <a:off x="640080" y="731642"/>
            <a:ext cx="7955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0E2A3B"/>
              </a:buClr>
              <a:buSzPts val="2900"/>
              <a:buFont typeface="Calibri"/>
              <a:buNone/>
            </a:pPr>
            <a:r>
              <a:rPr b="1" i="0" lang="en-US" sz="2900" u="none" cap="none" strike="noStrike">
                <a:solidFill>
                  <a:srgbClr val="0E2A3B"/>
                </a:solidFill>
                <a:latin typeface="Calibri"/>
                <a:ea typeface="Calibri"/>
                <a:cs typeface="Calibri"/>
                <a:sym typeface="Calibri"/>
              </a:rPr>
              <a:t>How consent works now — and where it breaks under DPDP.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6"/>
          <p:cNvSpPr/>
          <p:nvPr/>
        </p:nvSpPr>
        <p:spPr>
          <a:xfrm>
            <a:off x="640080" y="1645920"/>
            <a:ext cx="3063240" cy="2606040"/>
          </a:xfrm>
          <a:prstGeom prst="roundRect">
            <a:avLst>
              <a:gd fmla="val 4211" name="adj"/>
            </a:avLst>
          </a:prstGeom>
          <a:solidFill>
            <a:srgbClr val="FFFFFF"/>
          </a:solidFill>
          <a:ln>
            <a:noFill/>
          </a:ln>
          <a:effectLst>
            <a:outerShdw blurRad="114300" rotWithShape="0" algn="bl" dir="5400000" dist="38100">
              <a:srgbClr val="8FA3B0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6"/>
          <p:cNvSpPr/>
          <p:nvPr/>
        </p:nvSpPr>
        <p:spPr>
          <a:xfrm>
            <a:off x="868680" y="1828800"/>
            <a:ext cx="2651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718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5E7180"/>
                </a:solidFill>
                <a:latin typeface="Calibri"/>
                <a:ea typeface="Calibri"/>
                <a:cs typeface="Calibri"/>
                <a:sym typeface="Calibri"/>
              </a:rPr>
              <a:t>TODAY (assumed)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6"/>
          <p:cNvSpPr/>
          <p:nvPr/>
        </p:nvSpPr>
        <p:spPr>
          <a:xfrm>
            <a:off x="896112" y="2212848"/>
            <a:ext cx="384048" cy="384048"/>
          </a:xfrm>
          <a:prstGeom prst="ellipse">
            <a:avLst/>
          </a:prstGeom>
          <a:solidFill>
            <a:srgbClr val="0E2A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6"/>
          <p:cNvSpPr/>
          <p:nvPr/>
        </p:nvSpPr>
        <p:spPr>
          <a:xfrm>
            <a:off x="896112" y="2212848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6"/>
          <p:cNvSpPr/>
          <p:nvPr/>
        </p:nvSpPr>
        <p:spPr>
          <a:xfrm>
            <a:off x="1417320" y="2167128"/>
            <a:ext cx="21945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2283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2283A"/>
                </a:solidFill>
                <a:latin typeface="Calibri"/>
                <a:ea typeface="Calibri"/>
                <a:cs typeface="Calibri"/>
                <a:sym typeface="Calibri"/>
              </a:rPr>
              <a:t>Sign up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8" name="Google Shape;88;p6"/>
          <p:cNvCxnSpPr/>
          <p:nvPr/>
        </p:nvCxnSpPr>
        <p:spPr>
          <a:xfrm>
            <a:off x="1088136" y="2596896"/>
            <a:ext cx="0" cy="274320"/>
          </a:xfrm>
          <a:prstGeom prst="straightConnector1">
            <a:avLst/>
          </a:prstGeom>
          <a:noFill/>
          <a:ln cap="flat" cmpd="sng" w="19050">
            <a:solidFill>
              <a:srgbClr val="C4D2D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9" name="Google Shape;89;p6"/>
          <p:cNvSpPr/>
          <p:nvPr/>
        </p:nvSpPr>
        <p:spPr>
          <a:xfrm>
            <a:off x="896112" y="2871216"/>
            <a:ext cx="384048" cy="384048"/>
          </a:xfrm>
          <a:prstGeom prst="ellipse">
            <a:avLst/>
          </a:prstGeom>
          <a:solidFill>
            <a:srgbClr val="0E2A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6"/>
          <p:cNvSpPr/>
          <p:nvPr/>
        </p:nvSpPr>
        <p:spPr>
          <a:xfrm>
            <a:off x="896112" y="2871216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6"/>
          <p:cNvSpPr/>
          <p:nvPr/>
        </p:nvSpPr>
        <p:spPr>
          <a:xfrm>
            <a:off x="1417320" y="2825496"/>
            <a:ext cx="21945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2283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2283A"/>
                </a:solidFill>
                <a:latin typeface="Calibri"/>
                <a:ea typeface="Calibri"/>
                <a:cs typeface="Calibri"/>
                <a:sym typeface="Calibri"/>
              </a:rPr>
              <a:t>Enter a self-declared birthday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2" name="Google Shape;92;p6"/>
          <p:cNvCxnSpPr/>
          <p:nvPr/>
        </p:nvCxnSpPr>
        <p:spPr>
          <a:xfrm>
            <a:off x="1088136" y="3255264"/>
            <a:ext cx="0" cy="274320"/>
          </a:xfrm>
          <a:prstGeom prst="straightConnector1">
            <a:avLst/>
          </a:prstGeom>
          <a:noFill/>
          <a:ln cap="flat" cmpd="sng" w="19050">
            <a:solidFill>
              <a:srgbClr val="C4D2D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3" name="Google Shape;93;p6"/>
          <p:cNvSpPr/>
          <p:nvPr/>
        </p:nvSpPr>
        <p:spPr>
          <a:xfrm>
            <a:off x="896112" y="3529584"/>
            <a:ext cx="384048" cy="384048"/>
          </a:xfrm>
          <a:prstGeom prst="ellipse">
            <a:avLst/>
          </a:prstGeom>
          <a:solidFill>
            <a:srgbClr val="FF6B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6"/>
          <p:cNvSpPr/>
          <p:nvPr/>
        </p:nvSpPr>
        <p:spPr>
          <a:xfrm>
            <a:off x="896112" y="3529584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6"/>
          <p:cNvSpPr/>
          <p:nvPr/>
        </p:nvSpPr>
        <p:spPr>
          <a:xfrm>
            <a:off x="1417320" y="3483864"/>
            <a:ext cx="21945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2283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2283A"/>
                </a:solidFill>
                <a:latin typeface="Calibri"/>
                <a:ea typeface="Calibri"/>
                <a:cs typeface="Calibri"/>
                <a:sym typeface="Calibri"/>
              </a:rPr>
              <a:t>Full account: data collected, ads personalised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6"/>
          <p:cNvSpPr/>
          <p:nvPr/>
        </p:nvSpPr>
        <p:spPr>
          <a:xfrm>
            <a:off x="3886200" y="1645920"/>
            <a:ext cx="4617720" cy="2606040"/>
          </a:xfrm>
          <a:prstGeom prst="roundRect">
            <a:avLst>
              <a:gd fmla="val 4211" name="adj"/>
            </a:avLst>
          </a:prstGeom>
          <a:solidFill>
            <a:srgbClr val="FFFFFF"/>
          </a:solidFill>
          <a:ln>
            <a:noFill/>
          </a:ln>
          <a:effectLst>
            <a:outerShdw blurRad="114300" rotWithShape="0" algn="bl" dir="5400000" dist="38100">
              <a:srgbClr val="8FA3B0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6"/>
          <p:cNvSpPr/>
          <p:nvPr/>
        </p:nvSpPr>
        <p:spPr>
          <a:xfrm>
            <a:off x="4114800" y="1828800"/>
            <a:ext cx="4206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4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6B4A"/>
                </a:solidFill>
                <a:latin typeface="Calibri"/>
                <a:ea typeface="Calibri"/>
                <a:cs typeface="Calibri"/>
                <a:sym typeface="Calibri"/>
              </a:rPr>
              <a:t>THE GAPS vs DPDP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8" name="Google Shape;98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14800" y="2231136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6"/>
          <p:cNvSpPr/>
          <p:nvPr/>
        </p:nvSpPr>
        <p:spPr>
          <a:xfrm>
            <a:off x="4462272" y="2167128"/>
            <a:ext cx="3931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2283A"/>
              </a:buClr>
              <a:buSzPts val="1180"/>
              <a:buFont typeface="Calibri"/>
              <a:buNone/>
            </a:pPr>
            <a:r>
              <a:rPr b="0" i="0" lang="en-US" sz="1180" u="none" cap="none" strike="noStrike">
                <a:solidFill>
                  <a:srgbClr val="12283A"/>
                </a:solidFill>
                <a:latin typeface="Calibri"/>
                <a:ea typeface="Calibri"/>
                <a:cs typeface="Calibri"/>
                <a:sym typeface="Calibri"/>
              </a:rPr>
              <a:t>No verifiable parental consent for under-18s (Rule 10).</a:t>
            </a:r>
            <a:endParaRPr b="0" i="0" sz="11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0" name="Google Shape;100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14800" y="2734056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6"/>
          <p:cNvSpPr/>
          <p:nvPr/>
        </p:nvSpPr>
        <p:spPr>
          <a:xfrm>
            <a:off x="4462272" y="2670048"/>
            <a:ext cx="3931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2283A"/>
              </a:buClr>
              <a:buSzPts val="1180"/>
              <a:buFont typeface="Calibri"/>
              <a:buNone/>
            </a:pPr>
            <a:r>
              <a:rPr b="0" i="0" lang="en-US" sz="1180" u="none" cap="none" strike="noStrike">
                <a:solidFill>
                  <a:srgbClr val="12283A"/>
                </a:solidFill>
                <a:latin typeface="Calibri"/>
                <a:ea typeface="Calibri"/>
                <a:cs typeface="Calibri"/>
                <a:sym typeface="Calibri"/>
              </a:rPr>
              <a:t>Age is self-declared and unreliable — the law expects real age assurance.</a:t>
            </a:r>
            <a:endParaRPr b="0" i="0" sz="11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2" name="Google Shape;102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14800" y="3236976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6"/>
          <p:cNvSpPr/>
          <p:nvPr/>
        </p:nvSpPr>
        <p:spPr>
          <a:xfrm>
            <a:off x="4462272" y="3172968"/>
            <a:ext cx="3931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2283A"/>
              </a:buClr>
              <a:buSzPts val="1180"/>
              <a:buFont typeface="Calibri"/>
              <a:buNone/>
            </a:pPr>
            <a:r>
              <a:rPr b="0" i="0" lang="en-US" sz="1180" u="none" cap="none" strike="noStrike">
                <a:solidFill>
                  <a:srgbClr val="12283A"/>
                </a:solidFill>
                <a:latin typeface="Calibri"/>
                <a:ea typeface="Calibri"/>
                <a:cs typeface="Calibri"/>
                <a:sym typeface="Calibri"/>
              </a:rPr>
              <a:t>Behavioural tracking &amp; targeted ads to minors — now prohibited.</a:t>
            </a:r>
            <a:endParaRPr b="0" i="0" sz="11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4" name="Google Shape;104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14800" y="3739896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6"/>
          <p:cNvSpPr/>
          <p:nvPr/>
        </p:nvSpPr>
        <p:spPr>
          <a:xfrm>
            <a:off x="4462272" y="3675888"/>
            <a:ext cx="3931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2283A"/>
              </a:buClr>
              <a:buSzPts val="1180"/>
              <a:buFont typeface="Calibri"/>
              <a:buNone/>
            </a:pPr>
            <a:r>
              <a:rPr b="0" i="0" lang="en-US" sz="1180" u="none" cap="none" strike="noStrike">
                <a:solidFill>
                  <a:srgbClr val="12283A"/>
                </a:solidFill>
                <a:latin typeface="Calibri"/>
                <a:ea typeface="Calibri"/>
                <a:cs typeface="Calibri"/>
                <a:sym typeface="Calibri"/>
              </a:rPr>
              <a:t>No plain-language notice or easy, granular consent withdrawal.</a:t>
            </a:r>
            <a:endParaRPr b="0" i="0" sz="11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6"/>
          <p:cNvSpPr/>
          <p:nvPr/>
        </p:nvSpPr>
        <p:spPr>
          <a:xfrm>
            <a:off x="640080" y="4315968"/>
            <a:ext cx="7863840" cy="566928"/>
          </a:xfrm>
          <a:prstGeom prst="roundRect">
            <a:avLst>
              <a:gd fmla="val 12903" name="adj"/>
            </a:avLst>
          </a:prstGeom>
          <a:solidFill>
            <a:srgbClr val="FFEE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6"/>
          <p:cNvSpPr/>
          <p:nvPr/>
        </p:nvSpPr>
        <p:spPr>
          <a:xfrm>
            <a:off x="868680" y="4315968"/>
            <a:ext cx="74066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4A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FF6B4A"/>
                </a:solidFill>
                <a:latin typeface="Calibri"/>
                <a:ea typeface="Calibri"/>
                <a:cs typeface="Calibri"/>
                <a:sym typeface="Calibri"/>
              </a:rPr>
              <a:t>Net effect   </a:t>
            </a:r>
            <a:r>
              <a:rPr b="0" i="0" lang="en-US" sz="1150" u="none" cap="none" strike="noStrike">
                <a:solidFill>
                  <a:srgbClr val="0E2A3B"/>
                </a:solidFill>
                <a:latin typeface="Calibri"/>
                <a:ea typeface="Calibri"/>
                <a:cs typeface="Calibri"/>
                <a:sym typeface="Calibri"/>
              </a:rPr>
              <a:t>a 14-year-old today gets a fully tracked, ad-personalised account with zero parental involvement — the exact gap DPDP closes.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9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7"/>
          <p:cNvSpPr/>
          <p:nvPr/>
        </p:nvSpPr>
        <p:spPr>
          <a:xfrm>
            <a:off x="640080" y="457200"/>
            <a:ext cx="7863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4A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FF6B4A"/>
                </a:solidFill>
                <a:latin typeface="Calibri"/>
                <a:ea typeface="Calibri"/>
                <a:cs typeface="Calibri"/>
                <a:sym typeface="Calibri"/>
              </a:rPr>
              <a:t>THE SOLUTION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7"/>
          <p:cNvSpPr/>
          <p:nvPr/>
        </p:nvSpPr>
        <p:spPr>
          <a:xfrm>
            <a:off x="640080" y="676924"/>
            <a:ext cx="7955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0E2A3B"/>
              </a:buClr>
              <a:buSzPts val="2900"/>
              <a:buFont typeface="Calibri"/>
              <a:buNone/>
            </a:pPr>
            <a:r>
              <a:rPr b="1" i="0" lang="en-US" sz="2900" u="none" cap="none" strike="noStrike">
                <a:solidFill>
                  <a:srgbClr val="0E2A3B"/>
                </a:solidFill>
                <a:latin typeface="Calibri"/>
                <a:ea typeface="Calibri"/>
                <a:cs typeface="Calibri"/>
                <a:sym typeface="Calibri"/>
              </a:rPr>
              <a:t>A parent-verified consent flow that takes under two minutes.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7"/>
          <p:cNvSpPr/>
          <p:nvPr/>
        </p:nvSpPr>
        <p:spPr>
          <a:xfrm>
            <a:off x="640080" y="1572768"/>
            <a:ext cx="2560320" cy="1234440"/>
          </a:xfrm>
          <a:prstGeom prst="roundRect">
            <a:avLst>
              <a:gd fmla="val 8889" name="adj"/>
            </a:avLst>
          </a:prstGeom>
          <a:solidFill>
            <a:srgbClr val="FFFFFF"/>
          </a:solidFill>
          <a:ln>
            <a:noFill/>
          </a:ln>
          <a:effectLst>
            <a:outerShdw blurRad="114300" rotWithShape="0" algn="bl" dir="5400000" dist="38100">
              <a:srgbClr val="8FA3B0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7"/>
          <p:cNvSpPr/>
          <p:nvPr/>
        </p:nvSpPr>
        <p:spPr>
          <a:xfrm>
            <a:off x="841248" y="1773936"/>
            <a:ext cx="457200" cy="457200"/>
          </a:xfrm>
          <a:prstGeom prst="ellipse">
            <a:avLst/>
          </a:prstGeom>
          <a:solidFill>
            <a:srgbClr val="0FA39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7"/>
          <p:cNvSpPr/>
          <p:nvPr/>
        </p:nvSpPr>
        <p:spPr>
          <a:xfrm>
            <a:off x="841248" y="1773936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7"/>
          <p:cNvSpPr/>
          <p:nvPr/>
        </p:nvSpPr>
        <p:spPr>
          <a:xfrm>
            <a:off x="2450592" y="1773936"/>
            <a:ext cx="457200" cy="457200"/>
          </a:xfrm>
          <a:prstGeom prst="ellipse">
            <a:avLst/>
          </a:prstGeom>
          <a:solidFill>
            <a:srgbClr val="0FA39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9" name="Google Shape;119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69464" y="1892808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7"/>
          <p:cNvSpPr/>
          <p:nvPr/>
        </p:nvSpPr>
        <p:spPr>
          <a:xfrm>
            <a:off x="841248" y="2231136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2A3B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0E2A3B"/>
                </a:solidFill>
                <a:latin typeface="Calibri"/>
                <a:ea typeface="Calibri"/>
                <a:cs typeface="Calibri"/>
                <a:sym typeface="Calibri"/>
              </a:rPr>
              <a:t>Age gate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7"/>
          <p:cNvSpPr/>
          <p:nvPr/>
        </p:nvSpPr>
        <p:spPr>
          <a:xfrm>
            <a:off x="841248" y="2487168"/>
            <a:ext cx="221284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5E7180"/>
              </a:buClr>
              <a:buSzPts val="980"/>
              <a:buFont typeface="Calibri"/>
              <a:buNone/>
            </a:pPr>
            <a:r>
              <a:rPr b="0" i="0" lang="en-US" sz="980" u="none" cap="none" strike="noStrike">
                <a:solidFill>
                  <a:srgbClr val="5E7180"/>
                </a:solidFill>
                <a:latin typeface="Calibri"/>
                <a:ea typeface="Calibri"/>
                <a:cs typeface="Calibri"/>
                <a:sym typeface="Calibri"/>
              </a:rPr>
              <a:t>Real date of birth at sign-up — not skippable.</a:t>
            </a:r>
            <a:endParaRPr b="0" i="0" sz="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7"/>
          <p:cNvSpPr/>
          <p:nvPr/>
        </p:nvSpPr>
        <p:spPr>
          <a:xfrm>
            <a:off x="3355848" y="1572768"/>
            <a:ext cx="2560320" cy="1234440"/>
          </a:xfrm>
          <a:prstGeom prst="roundRect">
            <a:avLst>
              <a:gd fmla="val 8889" name="adj"/>
            </a:avLst>
          </a:prstGeom>
          <a:solidFill>
            <a:srgbClr val="FFFFFF"/>
          </a:solidFill>
          <a:ln>
            <a:noFill/>
          </a:ln>
          <a:effectLst>
            <a:outerShdw blurRad="114300" rotWithShape="0" algn="bl" dir="5400000" dist="38100">
              <a:srgbClr val="8FA3B0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7"/>
          <p:cNvSpPr/>
          <p:nvPr/>
        </p:nvSpPr>
        <p:spPr>
          <a:xfrm>
            <a:off x="3557016" y="1773936"/>
            <a:ext cx="457200" cy="457200"/>
          </a:xfrm>
          <a:prstGeom prst="ellipse">
            <a:avLst/>
          </a:prstGeom>
          <a:solidFill>
            <a:srgbClr val="0FA39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7"/>
          <p:cNvSpPr/>
          <p:nvPr/>
        </p:nvSpPr>
        <p:spPr>
          <a:xfrm>
            <a:off x="3557016" y="1773936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7"/>
          <p:cNvSpPr/>
          <p:nvPr/>
        </p:nvSpPr>
        <p:spPr>
          <a:xfrm>
            <a:off x="5166360" y="1773936"/>
            <a:ext cx="457200" cy="457200"/>
          </a:xfrm>
          <a:prstGeom prst="ellipse">
            <a:avLst/>
          </a:prstGeom>
          <a:solidFill>
            <a:srgbClr val="0FA39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6" name="Google Shape;126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85232" y="1892808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7"/>
          <p:cNvSpPr/>
          <p:nvPr/>
        </p:nvSpPr>
        <p:spPr>
          <a:xfrm>
            <a:off x="3557016" y="2231136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2A3B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0E2A3B"/>
                </a:solidFill>
                <a:latin typeface="Calibri"/>
                <a:ea typeface="Calibri"/>
                <a:cs typeface="Calibri"/>
                <a:sym typeface="Calibri"/>
              </a:rPr>
              <a:t>Parent invited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7"/>
          <p:cNvSpPr/>
          <p:nvPr/>
        </p:nvSpPr>
        <p:spPr>
          <a:xfrm>
            <a:off x="3557016" y="2487168"/>
            <a:ext cx="221284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5E7180"/>
              </a:buClr>
              <a:buSzPts val="980"/>
              <a:buFont typeface="Calibri"/>
              <a:buNone/>
            </a:pPr>
            <a:r>
              <a:rPr b="0" i="0" lang="en-US" sz="980" u="none" cap="none" strike="noStrike">
                <a:solidFill>
                  <a:srgbClr val="5E7180"/>
                </a:solidFill>
                <a:latin typeface="Calibri"/>
                <a:ea typeface="Calibri"/>
                <a:cs typeface="Calibri"/>
                <a:sym typeface="Calibri"/>
              </a:rPr>
              <a:t>Under-18 detected; account pauses, parent gets a secure link / OTP.</a:t>
            </a:r>
            <a:endParaRPr b="0" i="0" sz="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7"/>
          <p:cNvSpPr/>
          <p:nvPr/>
        </p:nvSpPr>
        <p:spPr>
          <a:xfrm>
            <a:off x="6071616" y="1572768"/>
            <a:ext cx="2560320" cy="1234440"/>
          </a:xfrm>
          <a:prstGeom prst="roundRect">
            <a:avLst>
              <a:gd fmla="val 8889" name="adj"/>
            </a:avLst>
          </a:prstGeom>
          <a:solidFill>
            <a:srgbClr val="FFFFFF"/>
          </a:solidFill>
          <a:ln>
            <a:noFill/>
          </a:ln>
          <a:effectLst>
            <a:outerShdw blurRad="114300" rotWithShape="0" algn="bl" dir="5400000" dist="38100">
              <a:srgbClr val="8FA3B0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7"/>
          <p:cNvSpPr/>
          <p:nvPr/>
        </p:nvSpPr>
        <p:spPr>
          <a:xfrm>
            <a:off x="6272784" y="1773936"/>
            <a:ext cx="457200" cy="457200"/>
          </a:xfrm>
          <a:prstGeom prst="ellipse">
            <a:avLst/>
          </a:prstGeom>
          <a:solidFill>
            <a:srgbClr val="0FA39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7"/>
          <p:cNvSpPr/>
          <p:nvPr/>
        </p:nvSpPr>
        <p:spPr>
          <a:xfrm>
            <a:off x="6272784" y="1773936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7"/>
          <p:cNvSpPr/>
          <p:nvPr/>
        </p:nvSpPr>
        <p:spPr>
          <a:xfrm>
            <a:off x="7882128" y="1773936"/>
            <a:ext cx="457200" cy="457200"/>
          </a:xfrm>
          <a:prstGeom prst="ellipse">
            <a:avLst/>
          </a:prstGeom>
          <a:solidFill>
            <a:srgbClr val="0FA39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3" name="Google Shape;133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001000" y="1892808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7"/>
          <p:cNvSpPr/>
          <p:nvPr/>
        </p:nvSpPr>
        <p:spPr>
          <a:xfrm>
            <a:off x="6272784" y="2231136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2A3B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0E2A3B"/>
                </a:solidFill>
                <a:latin typeface="Calibri"/>
                <a:ea typeface="Calibri"/>
                <a:cs typeface="Calibri"/>
                <a:sym typeface="Calibri"/>
              </a:rPr>
              <a:t>Verify via DigiLocker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7"/>
          <p:cNvSpPr/>
          <p:nvPr/>
        </p:nvSpPr>
        <p:spPr>
          <a:xfrm>
            <a:off x="6272784" y="2487168"/>
            <a:ext cx="221284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5E7180"/>
              </a:buClr>
              <a:buSzPts val="980"/>
              <a:buFont typeface="Calibri"/>
              <a:buNone/>
            </a:pPr>
            <a:r>
              <a:rPr b="0" i="0" lang="en-US" sz="980" u="none" cap="none" strike="noStrike">
                <a:solidFill>
                  <a:srgbClr val="5E7180"/>
                </a:solidFill>
                <a:latin typeface="Calibri"/>
                <a:ea typeface="Calibri"/>
                <a:cs typeface="Calibri"/>
                <a:sym typeface="Calibri"/>
              </a:rPr>
              <a:t>Aadhaar-linked token confirms an identifiable adult parent.</a:t>
            </a:r>
            <a:endParaRPr b="0" i="0" sz="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7"/>
          <p:cNvSpPr/>
          <p:nvPr/>
        </p:nvSpPr>
        <p:spPr>
          <a:xfrm>
            <a:off x="640080" y="2990088"/>
            <a:ext cx="2560320" cy="1234440"/>
          </a:xfrm>
          <a:prstGeom prst="roundRect">
            <a:avLst>
              <a:gd fmla="val 8889" name="adj"/>
            </a:avLst>
          </a:prstGeom>
          <a:solidFill>
            <a:srgbClr val="FFFFFF"/>
          </a:solidFill>
          <a:ln>
            <a:noFill/>
          </a:ln>
          <a:effectLst>
            <a:outerShdw blurRad="114300" rotWithShape="0" algn="bl" dir="5400000" dist="38100">
              <a:srgbClr val="8FA3B0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7"/>
          <p:cNvSpPr/>
          <p:nvPr/>
        </p:nvSpPr>
        <p:spPr>
          <a:xfrm>
            <a:off x="841248" y="3191256"/>
            <a:ext cx="457200" cy="457200"/>
          </a:xfrm>
          <a:prstGeom prst="ellipse">
            <a:avLst/>
          </a:prstGeom>
          <a:solidFill>
            <a:srgbClr val="FF6B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7"/>
          <p:cNvSpPr/>
          <p:nvPr/>
        </p:nvSpPr>
        <p:spPr>
          <a:xfrm>
            <a:off x="841248" y="3191256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7"/>
          <p:cNvSpPr/>
          <p:nvPr/>
        </p:nvSpPr>
        <p:spPr>
          <a:xfrm>
            <a:off x="2450592" y="3191256"/>
            <a:ext cx="457200" cy="457200"/>
          </a:xfrm>
          <a:prstGeom prst="ellipse">
            <a:avLst/>
          </a:prstGeom>
          <a:solidFill>
            <a:srgbClr val="FF6B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40" name="Google Shape;140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569464" y="3310128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7"/>
          <p:cNvSpPr/>
          <p:nvPr/>
        </p:nvSpPr>
        <p:spPr>
          <a:xfrm>
            <a:off x="841248" y="3648456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2A3B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0E2A3B"/>
                </a:solidFill>
                <a:latin typeface="Calibri"/>
                <a:ea typeface="Calibri"/>
                <a:cs typeface="Calibri"/>
                <a:sym typeface="Calibri"/>
              </a:rPr>
              <a:t>Plain-language notice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7"/>
          <p:cNvSpPr/>
          <p:nvPr/>
        </p:nvSpPr>
        <p:spPr>
          <a:xfrm>
            <a:off x="841248" y="3904488"/>
            <a:ext cx="221284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5E7180"/>
              </a:buClr>
              <a:buSzPts val="980"/>
              <a:buFont typeface="Calibri"/>
              <a:buNone/>
            </a:pPr>
            <a:r>
              <a:rPr b="0" i="0" lang="en-US" sz="980" u="none" cap="none" strike="noStrike">
                <a:solidFill>
                  <a:srgbClr val="5E7180"/>
                </a:solidFill>
                <a:latin typeface="Calibri"/>
                <a:ea typeface="Calibri"/>
                <a:cs typeface="Calibri"/>
                <a:sym typeface="Calibri"/>
              </a:rPr>
              <a:t>What data, and why — shown in the parent's language.</a:t>
            </a:r>
            <a:endParaRPr b="0" i="0" sz="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7"/>
          <p:cNvSpPr/>
          <p:nvPr/>
        </p:nvSpPr>
        <p:spPr>
          <a:xfrm>
            <a:off x="3355848" y="2990088"/>
            <a:ext cx="2560320" cy="1234440"/>
          </a:xfrm>
          <a:prstGeom prst="roundRect">
            <a:avLst>
              <a:gd fmla="val 8889" name="adj"/>
            </a:avLst>
          </a:prstGeom>
          <a:solidFill>
            <a:srgbClr val="FFFFFF"/>
          </a:solidFill>
          <a:ln>
            <a:noFill/>
          </a:ln>
          <a:effectLst>
            <a:outerShdw blurRad="114300" rotWithShape="0" algn="bl" dir="5400000" dist="38100">
              <a:srgbClr val="8FA3B0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7"/>
          <p:cNvSpPr/>
          <p:nvPr/>
        </p:nvSpPr>
        <p:spPr>
          <a:xfrm>
            <a:off x="3557016" y="3191256"/>
            <a:ext cx="457200" cy="457200"/>
          </a:xfrm>
          <a:prstGeom prst="ellipse">
            <a:avLst/>
          </a:prstGeom>
          <a:solidFill>
            <a:srgbClr val="FF6B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7"/>
          <p:cNvSpPr/>
          <p:nvPr/>
        </p:nvSpPr>
        <p:spPr>
          <a:xfrm>
            <a:off x="3557016" y="3191256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7"/>
          <p:cNvSpPr/>
          <p:nvPr/>
        </p:nvSpPr>
        <p:spPr>
          <a:xfrm>
            <a:off x="5166360" y="3191256"/>
            <a:ext cx="457200" cy="457200"/>
          </a:xfrm>
          <a:prstGeom prst="ellipse">
            <a:avLst/>
          </a:prstGeom>
          <a:solidFill>
            <a:srgbClr val="FF6B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47" name="Google Shape;147;p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285232" y="3310128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7"/>
          <p:cNvSpPr/>
          <p:nvPr/>
        </p:nvSpPr>
        <p:spPr>
          <a:xfrm>
            <a:off x="3557016" y="3648456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2A3B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0E2A3B"/>
                </a:solidFill>
                <a:latin typeface="Calibri"/>
                <a:ea typeface="Calibri"/>
                <a:cs typeface="Calibri"/>
                <a:sym typeface="Calibri"/>
              </a:rPr>
              <a:t>Granular consent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7"/>
          <p:cNvSpPr/>
          <p:nvPr/>
        </p:nvSpPr>
        <p:spPr>
          <a:xfrm>
            <a:off x="3557016" y="3904488"/>
            <a:ext cx="221284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5E7180"/>
              </a:buClr>
              <a:buSzPts val="980"/>
              <a:buFont typeface="Calibri"/>
              <a:buNone/>
            </a:pPr>
            <a:r>
              <a:rPr b="0" i="0" lang="en-US" sz="980" u="none" cap="none" strike="noStrike">
                <a:solidFill>
                  <a:srgbClr val="5E7180"/>
                </a:solidFill>
                <a:latin typeface="Calibri"/>
                <a:ea typeface="Calibri"/>
                <a:cs typeface="Calibri"/>
                <a:sym typeface="Calibri"/>
              </a:rPr>
              <a:t>Tracking &amp; targeted ads OFF by default for the child.</a:t>
            </a:r>
            <a:endParaRPr b="0" i="0" sz="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7"/>
          <p:cNvSpPr/>
          <p:nvPr/>
        </p:nvSpPr>
        <p:spPr>
          <a:xfrm>
            <a:off x="6071616" y="2990088"/>
            <a:ext cx="2560320" cy="1234440"/>
          </a:xfrm>
          <a:prstGeom prst="roundRect">
            <a:avLst>
              <a:gd fmla="val 8889" name="adj"/>
            </a:avLst>
          </a:prstGeom>
          <a:solidFill>
            <a:srgbClr val="FFFFFF"/>
          </a:solidFill>
          <a:ln>
            <a:noFill/>
          </a:ln>
          <a:effectLst>
            <a:outerShdw blurRad="114300" rotWithShape="0" algn="bl" dir="5400000" dist="38100">
              <a:srgbClr val="8FA3B0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7"/>
          <p:cNvSpPr/>
          <p:nvPr/>
        </p:nvSpPr>
        <p:spPr>
          <a:xfrm>
            <a:off x="6272784" y="3191256"/>
            <a:ext cx="457200" cy="457200"/>
          </a:xfrm>
          <a:prstGeom prst="ellipse">
            <a:avLst/>
          </a:prstGeom>
          <a:solidFill>
            <a:srgbClr val="FF6B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7"/>
          <p:cNvSpPr/>
          <p:nvPr/>
        </p:nvSpPr>
        <p:spPr>
          <a:xfrm>
            <a:off x="6272784" y="3191256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7"/>
          <p:cNvSpPr/>
          <p:nvPr/>
        </p:nvSpPr>
        <p:spPr>
          <a:xfrm>
            <a:off x="7882128" y="3191256"/>
            <a:ext cx="457200" cy="457200"/>
          </a:xfrm>
          <a:prstGeom prst="ellipse">
            <a:avLst/>
          </a:prstGeom>
          <a:solidFill>
            <a:srgbClr val="FF6B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54" name="Google Shape;154;p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001000" y="3310128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7"/>
          <p:cNvSpPr/>
          <p:nvPr/>
        </p:nvSpPr>
        <p:spPr>
          <a:xfrm>
            <a:off x="6272784" y="3648456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2A3B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0E2A3B"/>
                </a:solidFill>
                <a:latin typeface="Calibri"/>
                <a:ea typeface="Calibri"/>
                <a:cs typeface="Calibri"/>
                <a:sym typeface="Calibri"/>
              </a:rPr>
              <a:t>Activate &amp; log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7"/>
          <p:cNvSpPr/>
          <p:nvPr/>
        </p:nvSpPr>
        <p:spPr>
          <a:xfrm>
            <a:off x="6272784" y="3904488"/>
            <a:ext cx="221284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5E7180"/>
              </a:buClr>
              <a:buSzPts val="980"/>
              <a:buFont typeface="Calibri"/>
              <a:buNone/>
            </a:pPr>
            <a:r>
              <a:rPr b="0" i="0" lang="en-US" sz="980" u="none" cap="none" strike="noStrike">
                <a:solidFill>
                  <a:srgbClr val="5E7180"/>
                </a:solidFill>
                <a:latin typeface="Calibri"/>
                <a:ea typeface="Calibri"/>
                <a:cs typeface="Calibri"/>
                <a:sym typeface="Calibri"/>
              </a:rPr>
              <a:t>Account goes live; consent stored for audit.</a:t>
            </a:r>
            <a:endParaRPr b="0" i="0" sz="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7" name="Google Shape;157;p7"/>
          <p:cNvCxnSpPr/>
          <p:nvPr/>
        </p:nvCxnSpPr>
        <p:spPr>
          <a:xfrm>
            <a:off x="3214116" y="2098548"/>
            <a:ext cx="128016" cy="0"/>
          </a:xfrm>
          <a:prstGeom prst="straightConnector1">
            <a:avLst/>
          </a:prstGeom>
          <a:noFill/>
          <a:ln cap="flat" cmpd="sng" w="31750">
            <a:solidFill>
              <a:srgbClr val="2DD4BF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58" name="Google Shape;158;p7"/>
          <p:cNvCxnSpPr/>
          <p:nvPr/>
        </p:nvCxnSpPr>
        <p:spPr>
          <a:xfrm>
            <a:off x="5929884" y="2098548"/>
            <a:ext cx="128016" cy="0"/>
          </a:xfrm>
          <a:prstGeom prst="straightConnector1">
            <a:avLst/>
          </a:prstGeom>
          <a:noFill/>
          <a:ln cap="flat" cmpd="sng" w="31750">
            <a:solidFill>
              <a:srgbClr val="2DD4BF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59" name="Google Shape;159;p7"/>
          <p:cNvCxnSpPr/>
          <p:nvPr/>
        </p:nvCxnSpPr>
        <p:spPr>
          <a:xfrm>
            <a:off x="3214116" y="3515868"/>
            <a:ext cx="128016" cy="0"/>
          </a:xfrm>
          <a:prstGeom prst="straightConnector1">
            <a:avLst/>
          </a:prstGeom>
          <a:noFill/>
          <a:ln cap="flat" cmpd="sng" w="31750">
            <a:solidFill>
              <a:srgbClr val="2DD4BF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60" name="Google Shape;160;p7"/>
          <p:cNvCxnSpPr/>
          <p:nvPr/>
        </p:nvCxnSpPr>
        <p:spPr>
          <a:xfrm>
            <a:off x="5929884" y="3515868"/>
            <a:ext cx="128016" cy="0"/>
          </a:xfrm>
          <a:prstGeom prst="straightConnector1">
            <a:avLst/>
          </a:prstGeom>
          <a:noFill/>
          <a:ln cap="flat" cmpd="sng" w="31750">
            <a:solidFill>
              <a:srgbClr val="2DD4BF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61" name="Google Shape;161;p7"/>
          <p:cNvSpPr/>
          <p:nvPr/>
        </p:nvSpPr>
        <p:spPr>
          <a:xfrm>
            <a:off x="640080" y="4498848"/>
            <a:ext cx="7863840" cy="548640"/>
          </a:xfrm>
          <a:prstGeom prst="roundRect">
            <a:avLst>
              <a:gd fmla="val 13333" name="adj"/>
            </a:avLst>
          </a:prstGeom>
          <a:solidFill>
            <a:srgbClr val="EAF6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7"/>
          <p:cNvSpPr/>
          <p:nvPr/>
        </p:nvSpPr>
        <p:spPr>
          <a:xfrm>
            <a:off x="868680" y="4498848"/>
            <a:ext cx="7406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A39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FA39E"/>
                </a:solidFill>
                <a:latin typeface="Calibri"/>
                <a:ea typeface="Calibri"/>
                <a:cs typeface="Calibri"/>
                <a:sym typeface="Calibri"/>
              </a:rPr>
              <a:t>Why DigiLocker tokens, not full ID-upload for everyone?   </a:t>
            </a:r>
            <a:r>
              <a:rPr b="0" i="0" lang="en-US" sz="1100" u="none" cap="none" strike="noStrike">
                <a:solidFill>
                  <a:srgbClr val="0E2A3B"/>
                </a:solidFill>
                <a:latin typeface="Calibri"/>
                <a:ea typeface="Calibri"/>
                <a:cs typeface="Calibri"/>
                <a:sym typeface="Calibri"/>
              </a:rPr>
              <a:t>Less data collected (minimisation), lighter UX, and government-grade verification.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9"/>
        </a:soli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8"/>
          <p:cNvSpPr/>
          <p:nvPr/>
        </p:nvSpPr>
        <p:spPr>
          <a:xfrm>
            <a:off x="640080" y="457200"/>
            <a:ext cx="7863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4A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FF6B4A"/>
                </a:solidFill>
                <a:latin typeface="Calibri"/>
                <a:ea typeface="Calibri"/>
                <a:cs typeface="Calibri"/>
                <a:sym typeface="Calibri"/>
              </a:rPr>
              <a:t>MEASURING SUCCESS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8"/>
          <p:cNvSpPr/>
          <p:nvPr/>
        </p:nvSpPr>
        <p:spPr>
          <a:xfrm>
            <a:off x="640080" y="686043"/>
            <a:ext cx="7955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0E2A3B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0E2A3B"/>
                </a:solidFill>
                <a:latin typeface="Calibri"/>
                <a:ea typeface="Calibri"/>
                <a:cs typeface="Calibri"/>
                <a:sym typeface="Calibri"/>
              </a:rPr>
              <a:t>One number that matters — guarded by the experience around it.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8"/>
          <p:cNvSpPr/>
          <p:nvPr/>
        </p:nvSpPr>
        <p:spPr>
          <a:xfrm>
            <a:off x="640080" y="1627632"/>
            <a:ext cx="7863840" cy="1097280"/>
          </a:xfrm>
          <a:prstGeom prst="roundRect">
            <a:avLst>
              <a:gd fmla="val 10000" name="adj"/>
            </a:avLst>
          </a:prstGeom>
          <a:solidFill>
            <a:srgbClr val="0E2A3B"/>
          </a:solidFill>
          <a:ln>
            <a:noFill/>
          </a:ln>
          <a:effectLst>
            <a:outerShdw blurRad="114300" rotWithShape="0" algn="bl" dir="5400000" dist="38100">
              <a:srgbClr val="8FA3B0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8"/>
          <p:cNvSpPr/>
          <p:nvPr/>
        </p:nvSpPr>
        <p:spPr>
          <a:xfrm>
            <a:off x="914400" y="178308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DD4BF"/>
                </a:solidFill>
                <a:latin typeface="Calibri"/>
                <a:ea typeface="Calibri"/>
                <a:cs typeface="Calibri"/>
                <a:sym typeface="Calibri"/>
              </a:rPr>
              <a:t>NORTH STAR METRIC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8"/>
          <p:cNvSpPr/>
          <p:nvPr/>
        </p:nvSpPr>
        <p:spPr>
          <a:xfrm>
            <a:off x="914400" y="2048256"/>
            <a:ext cx="5212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50"/>
              <a:buFont typeface="Calibri"/>
              <a:buNone/>
            </a:pPr>
            <a:r>
              <a:rPr b="1" i="0" lang="en-US" sz="16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% of active under-18 accounts with valid, current verified parental consent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8"/>
          <p:cNvSpPr/>
          <p:nvPr/>
        </p:nvSpPr>
        <p:spPr>
          <a:xfrm>
            <a:off x="6400800" y="1737360"/>
            <a:ext cx="19202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6B4A"/>
              </a:buClr>
              <a:buSzPts val="4400"/>
              <a:buFont typeface="Calibri"/>
              <a:buNone/>
            </a:pPr>
            <a:r>
              <a:rPr b="1" i="0" lang="en-US" sz="4400" u="none" cap="none" strike="noStrike">
                <a:solidFill>
                  <a:srgbClr val="FF6B4A"/>
                </a:solidFill>
                <a:latin typeface="Calibri"/>
                <a:ea typeface="Calibri"/>
                <a:cs typeface="Calibri"/>
                <a:sym typeface="Calibri"/>
              </a:rPr>
              <a:t>90%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8"/>
          <p:cNvSpPr/>
          <p:nvPr/>
        </p:nvSpPr>
        <p:spPr>
          <a:xfrm>
            <a:off x="6400800" y="2395728"/>
            <a:ext cx="1920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EC4D6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AEC4D6"/>
                </a:solidFill>
                <a:latin typeface="Calibri"/>
                <a:ea typeface="Calibri"/>
                <a:cs typeface="Calibri"/>
                <a:sym typeface="Calibri"/>
              </a:rPr>
              <a:t>target within 6 months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8"/>
          <p:cNvSpPr/>
          <p:nvPr/>
        </p:nvSpPr>
        <p:spPr>
          <a:xfrm>
            <a:off x="640080" y="2889504"/>
            <a:ext cx="2560320" cy="932688"/>
          </a:xfrm>
          <a:prstGeom prst="roundRect">
            <a:avLst>
              <a:gd fmla="val 11765" name="adj"/>
            </a:avLst>
          </a:prstGeom>
          <a:solidFill>
            <a:srgbClr val="FFFFFF"/>
          </a:solidFill>
          <a:ln>
            <a:noFill/>
          </a:ln>
          <a:effectLst>
            <a:outerShdw blurRad="114300" rotWithShape="0" algn="bl" dir="5400000" dist="38100">
              <a:srgbClr val="8FA3B0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8"/>
          <p:cNvSpPr/>
          <p:nvPr/>
        </p:nvSpPr>
        <p:spPr>
          <a:xfrm>
            <a:off x="859536" y="3108960"/>
            <a:ext cx="502920" cy="502920"/>
          </a:xfrm>
          <a:prstGeom prst="ellipse">
            <a:avLst/>
          </a:prstGeom>
          <a:solidFill>
            <a:srgbClr val="0FA39E"/>
          </a:solidFill>
          <a:ln>
            <a:noFill/>
          </a:ln>
          <a:effectLst>
            <a:outerShdw blurRad="114300" rotWithShape="0" algn="bl" dir="5400000" dist="38100">
              <a:srgbClr val="8FA3B0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7" name="Google Shape;177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5266" y="3234690"/>
            <a:ext cx="251460" cy="251460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8"/>
          <p:cNvSpPr/>
          <p:nvPr/>
        </p:nvSpPr>
        <p:spPr>
          <a:xfrm>
            <a:off x="1481328" y="3054096"/>
            <a:ext cx="1600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E2A3B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0E2A3B"/>
                </a:solidFill>
                <a:latin typeface="Calibri"/>
                <a:ea typeface="Calibri"/>
                <a:cs typeface="Calibri"/>
                <a:sym typeface="Calibri"/>
              </a:rPr>
              <a:t>Consent completion rate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8"/>
          <p:cNvSpPr/>
          <p:nvPr/>
        </p:nvSpPr>
        <p:spPr>
          <a:xfrm>
            <a:off x="1481328" y="3456432"/>
            <a:ext cx="1600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4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6B4A"/>
                </a:solidFill>
                <a:latin typeface="Calibri"/>
                <a:ea typeface="Calibri"/>
                <a:cs typeface="Calibri"/>
                <a:sym typeface="Calibri"/>
              </a:rPr>
              <a:t>Target ≥ 85%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8"/>
          <p:cNvSpPr/>
          <p:nvPr/>
        </p:nvSpPr>
        <p:spPr>
          <a:xfrm>
            <a:off x="3355848" y="2889504"/>
            <a:ext cx="2560320" cy="932688"/>
          </a:xfrm>
          <a:prstGeom prst="roundRect">
            <a:avLst>
              <a:gd fmla="val 11765" name="adj"/>
            </a:avLst>
          </a:prstGeom>
          <a:solidFill>
            <a:srgbClr val="FFFFFF"/>
          </a:solidFill>
          <a:ln>
            <a:noFill/>
          </a:ln>
          <a:effectLst>
            <a:outerShdw blurRad="114300" rotWithShape="0" algn="bl" dir="5400000" dist="38100">
              <a:srgbClr val="8FA3B0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8"/>
          <p:cNvSpPr/>
          <p:nvPr/>
        </p:nvSpPr>
        <p:spPr>
          <a:xfrm>
            <a:off x="3575304" y="3108960"/>
            <a:ext cx="502920" cy="502920"/>
          </a:xfrm>
          <a:prstGeom prst="ellipse">
            <a:avLst/>
          </a:prstGeom>
          <a:solidFill>
            <a:srgbClr val="0FA39E"/>
          </a:solidFill>
          <a:ln>
            <a:noFill/>
          </a:ln>
          <a:effectLst>
            <a:outerShdw blurRad="114300" rotWithShape="0" algn="bl" dir="5400000" dist="38100">
              <a:srgbClr val="8FA3B0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82" name="Google Shape;182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701034" y="3234690"/>
            <a:ext cx="251460" cy="25146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8"/>
          <p:cNvSpPr/>
          <p:nvPr/>
        </p:nvSpPr>
        <p:spPr>
          <a:xfrm>
            <a:off x="4197096" y="3054096"/>
            <a:ext cx="1600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E2A3B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0E2A3B"/>
                </a:solidFill>
                <a:latin typeface="Calibri"/>
                <a:ea typeface="Calibri"/>
                <a:cs typeface="Calibri"/>
                <a:sym typeface="Calibri"/>
              </a:rPr>
              <a:t>Median time-to-consent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8"/>
          <p:cNvSpPr/>
          <p:nvPr/>
        </p:nvSpPr>
        <p:spPr>
          <a:xfrm>
            <a:off x="4197096" y="3456432"/>
            <a:ext cx="1600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4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6B4A"/>
                </a:solidFill>
                <a:latin typeface="Calibri"/>
                <a:ea typeface="Calibri"/>
                <a:cs typeface="Calibri"/>
                <a:sym typeface="Calibri"/>
              </a:rPr>
              <a:t>Target &lt; 2 minutes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8"/>
          <p:cNvSpPr/>
          <p:nvPr/>
        </p:nvSpPr>
        <p:spPr>
          <a:xfrm>
            <a:off x="6071616" y="2889504"/>
            <a:ext cx="2560320" cy="932688"/>
          </a:xfrm>
          <a:prstGeom prst="roundRect">
            <a:avLst>
              <a:gd fmla="val 11765" name="adj"/>
            </a:avLst>
          </a:prstGeom>
          <a:solidFill>
            <a:srgbClr val="FFFFFF"/>
          </a:solidFill>
          <a:ln>
            <a:noFill/>
          </a:ln>
          <a:effectLst>
            <a:outerShdw blurRad="114300" rotWithShape="0" algn="bl" dir="5400000" dist="38100">
              <a:srgbClr val="8FA3B0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8"/>
          <p:cNvSpPr/>
          <p:nvPr/>
        </p:nvSpPr>
        <p:spPr>
          <a:xfrm>
            <a:off x="6291072" y="3108960"/>
            <a:ext cx="502920" cy="502920"/>
          </a:xfrm>
          <a:prstGeom prst="ellipse">
            <a:avLst/>
          </a:prstGeom>
          <a:solidFill>
            <a:srgbClr val="0FA39E"/>
          </a:solidFill>
          <a:ln>
            <a:noFill/>
          </a:ln>
          <a:effectLst>
            <a:outerShdw blurRad="114300" rotWithShape="0" algn="bl" dir="5400000" dist="38100">
              <a:srgbClr val="8FA3B0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87" name="Google Shape;187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16802" y="3234690"/>
            <a:ext cx="251460" cy="25146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8"/>
          <p:cNvSpPr/>
          <p:nvPr/>
        </p:nvSpPr>
        <p:spPr>
          <a:xfrm>
            <a:off x="6912864" y="3054096"/>
            <a:ext cx="1600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E2A3B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0E2A3B"/>
                </a:solidFill>
                <a:latin typeface="Calibri"/>
                <a:ea typeface="Calibri"/>
                <a:cs typeface="Calibri"/>
                <a:sym typeface="Calibri"/>
              </a:rPr>
              <a:t>Consent-withdrawal rate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8"/>
          <p:cNvSpPr/>
          <p:nvPr/>
        </p:nvSpPr>
        <p:spPr>
          <a:xfrm>
            <a:off x="6912864" y="3456432"/>
            <a:ext cx="1600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4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6B4A"/>
                </a:solidFill>
                <a:latin typeface="Calibri"/>
                <a:ea typeface="Calibri"/>
                <a:cs typeface="Calibri"/>
                <a:sym typeface="Calibri"/>
              </a:rPr>
              <a:t>Monitor for health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8"/>
          <p:cNvSpPr/>
          <p:nvPr/>
        </p:nvSpPr>
        <p:spPr>
          <a:xfrm>
            <a:off x="640080" y="3986784"/>
            <a:ext cx="7863840" cy="896112"/>
          </a:xfrm>
          <a:prstGeom prst="roundRect">
            <a:avLst>
              <a:gd fmla="val 9184" name="adj"/>
            </a:avLst>
          </a:prstGeom>
          <a:solidFill>
            <a:srgbClr val="FDF3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8"/>
          <p:cNvSpPr/>
          <p:nvPr/>
        </p:nvSpPr>
        <p:spPr>
          <a:xfrm>
            <a:off x="868680" y="3986784"/>
            <a:ext cx="7406640" cy="8961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B9791A"/>
              </a:buClr>
              <a:buSzPts val="1130"/>
              <a:buFont typeface="Calibri"/>
              <a:buNone/>
            </a:pPr>
            <a:r>
              <a:rPr b="1" i="0" lang="en-US" sz="1130" u="none" cap="none" strike="noStrike">
                <a:solidFill>
                  <a:srgbClr val="B9791A"/>
                </a:solidFill>
                <a:latin typeface="Calibri"/>
                <a:ea typeface="Calibri"/>
                <a:cs typeface="Calibri"/>
                <a:sym typeface="Calibri"/>
              </a:rPr>
              <a:t>Guardrails   </a:t>
            </a:r>
            <a:r>
              <a:rPr b="0" i="0" lang="en-US" sz="1130" u="none" cap="none" strike="noStrike">
                <a:solidFill>
                  <a:srgbClr val="0E2A3B"/>
                </a:solidFill>
                <a:latin typeface="Calibri"/>
                <a:ea typeface="Calibri"/>
                <a:cs typeface="Calibri"/>
                <a:sym typeface="Calibri"/>
              </a:rPr>
              <a:t>added sign-up drop-off from the consent step stays &lt; 10%  ·  parent support tickets per 1,000 flows stay low.</a:t>
            </a:r>
            <a:br>
              <a:rPr b="0" i="0" lang="en-US" sz="1130" u="none" cap="none" strike="noStrike">
                <a:solidFill>
                  <a:srgbClr val="0E2A3B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130" u="none" cap="none" strike="noStrike">
                <a:solidFill>
                  <a:srgbClr val="0FA39E"/>
                </a:solidFill>
                <a:latin typeface="Calibri"/>
                <a:ea typeface="Calibri"/>
                <a:cs typeface="Calibri"/>
                <a:sym typeface="Calibri"/>
              </a:rPr>
              <a:t>Success criteria   </a:t>
            </a:r>
            <a:r>
              <a:rPr b="0" i="0" lang="en-US" sz="1130" u="none" cap="none" strike="noStrike">
                <a:solidFill>
                  <a:srgbClr val="0E2A3B"/>
                </a:solidFill>
                <a:latin typeface="Calibri"/>
                <a:ea typeface="Calibri"/>
                <a:cs typeface="Calibri"/>
                <a:sym typeface="Calibri"/>
              </a:rPr>
              <a:t>90% coverage, drop-off under 10%, and median completion under 2 minutes.</a:t>
            </a:r>
            <a:endParaRPr b="0" i="0" sz="11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9"/>
        </a:solidFill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9"/>
          <p:cNvSpPr/>
          <p:nvPr/>
        </p:nvSpPr>
        <p:spPr>
          <a:xfrm>
            <a:off x="640080" y="457200"/>
            <a:ext cx="7863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4A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FF6B4A"/>
                </a:solidFill>
                <a:latin typeface="Calibri"/>
                <a:ea typeface="Calibri"/>
                <a:cs typeface="Calibri"/>
                <a:sym typeface="Calibri"/>
              </a:rPr>
              <a:t>IF THE NUMBER DROPS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9"/>
          <p:cNvSpPr/>
          <p:nvPr/>
        </p:nvSpPr>
        <p:spPr>
          <a:xfrm>
            <a:off x="640080" y="777240"/>
            <a:ext cx="81381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0E2A3B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0E2A3B"/>
                </a:solidFill>
                <a:latin typeface="Calibri"/>
                <a:ea typeface="Calibri"/>
                <a:cs typeface="Calibri"/>
                <a:sym typeface="Calibri"/>
              </a:rPr>
              <a:t>North Star falls 15% in week 3 — no release shipped. How I'd investigate.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9"/>
          <p:cNvSpPr/>
          <p:nvPr/>
        </p:nvSpPr>
        <p:spPr>
          <a:xfrm>
            <a:off x="640080" y="1664208"/>
            <a:ext cx="2560320" cy="2194560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>
            <a:noFill/>
          </a:ln>
          <a:effectLst>
            <a:outerShdw blurRad="114300" rotWithShape="0" algn="bl" dir="5400000" dist="38100">
              <a:srgbClr val="8FA3B0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9"/>
          <p:cNvSpPr/>
          <p:nvPr/>
        </p:nvSpPr>
        <p:spPr>
          <a:xfrm>
            <a:off x="896112" y="1901952"/>
            <a:ext cx="548640" cy="548640"/>
          </a:xfrm>
          <a:prstGeom prst="ellipse">
            <a:avLst/>
          </a:prstGeom>
          <a:solidFill>
            <a:srgbClr val="0FA39E"/>
          </a:solidFill>
          <a:ln>
            <a:noFill/>
          </a:ln>
          <a:effectLst>
            <a:outerShdw blurRad="114300" rotWithShape="0" algn="bl" dir="5400000" dist="38100">
              <a:srgbClr val="8FA3B0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01" name="Google Shape;201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3272" y="2039112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9"/>
          <p:cNvSpPr/>
          <p:nvPr/>
        </p:nvSpPr>
        <p:spPr>
          <a:xfrm>
            <a:off x="896112" y="2523744"/>
            <a:ext cx="2103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2A3B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E2A3B"/>
                </a:solidFill>
                <a:latin typeface="Calibri"/>
                <a:ea typeface="Calibri"/>
                <a:cs typeface="Calibri"/>
                <a:sym typeface="Calibri"/>
              </a:rPr>
              <a:t>1 · Is it even real?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9"/>
          <p:cNvSpPr/>
          <p:nvPr/>
        </p:nvSpPr>
        <p:spPr>
          <a:xfrm>
            <a:off x="896112" y="2816352"/>
            <a:ext cx="2084832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7180"/>
              </a:buClr>
              <a:buSzPts val="1060"/>
              <a:buFont typeface="Calibri"/>
              <a:buNone/>
            </a:pPr>
            <a:r>
              <a:rPr b="0" i="0" lang="en-US" sz="1060" u="none" cap="none" strike="noStrike">
                <a:solidFill>
                  <a:srgbClr val="5E7180"/>
                </a:solidFill>
                <a:latin typeface="Calibri"/>
                <a:ea typeface="Calibri"/>
                <a:cs typeface="Calibri"/>
                <a:sym typeface="Calibri"/>
              </a:rPr>
              <a:t>A tracking / logging bug, a renamed event, or a dashboard filter can fake a drop.</a:t>
            </a:r>
            <a:endParaRPr b="0" i="0" sz="10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9"/>
          <p:cNvSpPr/>
          <p:nvPr/>
        </p:nvSpPr>
        <p:spPr>
          <a:xfrm>
            <a:off x="896112" y="3502152"/>
            <a:ext cx="208483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FA39E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FA39E"/>
                </a:solidFill>
                <a:latin typeface="Calibri"/>
                <a:ea typeface="Calibri"/>
                <a:cs typeface="Calibri"/>
                <a:sym typeface="Calibri"/>
              </a:rPr>
              <a:t>→ </a:t>
            </a:r>
            <a:r>
              <a:rPr b="0" i="1" lang="en-US" sz="1000" u="none" cap="none" strike="noStrike">
                <a:solidFill>
                  <a:srgbClr val="12283A"/>
                </a:solidFill>
                <a:latin typeface="Calibri"/>
                <a:ea typeface="Calibri"/>
                <a:cs typeface="Calibri"/>
                <a:sym typeface="Calibri"/>
              </a:rPr>
              <a:t>Check raw event counts against the derived metric.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9"/>
          <p:cNvSpPr/>
          <p:nvPr/>
        </p:nvSpPr>
        <p:spPr>
          <a:xfrm>
            <a:off x="3355848" y="1664208"/>
            <a:ext cx="2560320" cy="2194560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>
            <a:noFill/>
          </a:ln>
          <a:effectLst>
            <a:outerShdw blurRad="114300" rotWithShape="0" algn="bl" dir="5400000" dist="38100">
              <a:srgbClr val="8FA3B0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9"/>
          <p:cNvSpPr/>
          <p:nvPr/>
        </p:nvSpPr>
        <p:spPr>
          <a:xfrm>
            <a:off x="3611880" y="1901952"/>
            <a:ext cx="548640" cy="548640"/>
          </a:xfrm>
          <a:prstGeom prst="ellipse">
            <a:avLst/>
          </a:prstGeom>
          <a:solidFill>
            <a:srgbClr val="FF6B4A"/>
          </a:solidFill>
          <a:ln>
            <a:noFill/>
          </a:ln>
          <a:effectLst>
            <a:outerShdw blurRad="114300" rotWithShape="0" algn="bl" dir="5400000" dist="38100">
              <a:srgbClr val="8FA3B0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07" name="Google Shape;207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749040" y="2039112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9"/>
          <p:cNvSpPr/>
          <p:nvPr/>
        </p:nvSpPr>
        <p:spPr>
          <a:xfrm>
            <a:off x="3611880" y="2523744"/>
            <a:ext cx="2103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2A3B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E2A3B"/>
                </a:solidFill>
                <a:latin typeface="Calibri"/>
                <a:ea typeface="Calibri"/>
                <a:cs typeface="Calibri"/>
                <a:sym typeface="Calibri"/>
              </a:rPr>
              <a:t>2 · Is a step broken?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9"/>
          <p:cNvSpPr/>
          <p:nvPr/>
        </p:nvSpPr>
        <p:spPr>
          <a:xfrm>
            <a:off x="3611880" y="2816352"/>
            <a:ext cx="2084832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7180"/>
              </a:buClr>
              <a:buSzPts val="1060"/>
              <a:buFont typeface="Calibri"/>
              <a:buNone/>
            </a:pPr>
            <a:r>
              <a:rPr b="0" i="0" lang="en-US" sz="1060" u="none" cap="none" strike="noStrike">
                <a:solidFill>
                  <a:srgbClr val="5E7180"/>
                </a:solidFill>
                <a:latin typeface="Calibri"/>
                <a:ea typeface="Calibri"/>
                <a:cs typeface="Calibri"/>
                <a:sym typeface="Calibri"/>
              </a:rPr>
              <a:t>A single funnel stage may be leaking — age gate, DigiLocker handoff, notice, or confirm.</a:t>
            </a:r>
            <a:endParaRPr b="0" i="0" sz="10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9"/>
          <p:cNvSpPr/>
          <p:nvPr/>
        </p:nvSpPr>
        <p:spPr>
          <a:xfrm>
            <a:off x="3611880" y="3502152"/>
            <a:ext cx="208483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FF6B4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6B4A"/>
                </a:solidFill>
                <a:latin typeface="Calibri"/>
                <a:ea typeface="Calibri"/>
                <a:cs typeface="Calibri"/>
                <a:sym typeface="Calibri"/>
              </a:rPr>
              <a:t>→ </a:t>
            </a:r>
            <a:r>
              <a:rPr b="0" i="1" lang="en-US" sz="1000" u="none" cap="none" strike="noStrike">
                <a:solidFill>
                  <a:srgbClr val="12283A"/>
                </a:solidFill>
                <a:latin typeface="Calibri"/>
                <a:ea typeface="Calibri"/>
                <a:cs typeface="Calibri"/>
                <a:sym typeface="Calibri"/>
              </a:rPr>
              <a:t>Compare step-wise conversion week-over-week.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9"/>
          <p:cNvSpPr/>
          <p:nvPr/>
        </p:nvSpPr>
        <p:spPr>
          <a:xfrm>
            <a:off x="6071616" y="1664208"/>
            <a:ext cx="2560320" cy="2194560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>
            <a:noFill/>
          </a:ln>
          <a:effectLst>
            <a:outerShdw blurRad="114300" rotWithShape="0" algn="bl" dir="5400000" dist="38100">
              <a:srgbClr val="8FA3B0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9"/>
          <p:cNvSpPr/>
          <p:nvPr/>
        </p:nvSpPr>
        <p:spPr>
          <a:xfrm>
            <a:off x="6327648" y="1901952"/>
            <a:ext cx="548640" cy="548640"/>
          </a:xfrm>
          <a:prstGeom prst="ellipse">
            <a:avLst/>
          </a:prstGeom>
          <a:solidFill>
            <a:srgbClr val="F2A93B"/>
          </a:solidFill>
          <a:ln>
            <a:noFill/>
          </a:ln>
          <a:effectLst>
            <a:outerShdw blurRad="114300" rotWithShape="0" algn="bl" dir="5400000" dist="38100">
              <a:srgbClr val="8FA3B0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3" name="Google Shape;213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64808" y="2039112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9"/>
          <p:cNvSpPr/>
          <p:nvPr/>
        </p:nvSpPr>
        <p:spPr>
          <a:xfrm>
            <a:off x="6327648" y="2523744"/>
            <a:ext cx="2103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2A3B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E2A3B"/>
                </a:solidFill>
                <a:latin typeface="Calibri"/>
                <a:ea typeface="Calibri"/>
                <a:cs typeface="Calibri"/>
                <a:sym typeface="Calibri"/>
              </a:rPr>
              <a:t>3 · Is it external?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9"/>
          <p:cNvSpPr/>
          <p:nvPr/>
        </p:nvSpPr>
        <p:spPr>
          <a:xfrm>
            <a:off x="6327648" y="2816352"/>
            <a:ext cx="2084832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7180"/>
              </a:buClr>
              <a:buSzPts val="1060"/>
              <a:buFont typeface="Calibri"/>
              <a:buNone/>
            </a:pPr>
            <a:r>
              <a:rPr b="0" i="0" lang="en-US" sz="1060" u="none" cap="none" strike="noStrike">
                <a:solidFill>
                  <a:srgbClr val="5E7180"/>
                </a:solidFill>
                <a:latin typeface="Calibri"/>
                <a:ea typeface="Calibri"/>
                <a:cs typeface="Calibri"/>
                <a:sym typeface="Calibri"/>
              </a:rPr>
              <a:t>A DigiLocker/Aadhaar outage, an app-store update, an OS webview change, or a seasonal sign-up mix.</a:t>
            </a:r>
            <a:endParaRPr b="0" i="0" sz="10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9"/>
          <p:cNvSpPr/>
          <p:nvPr/>
        </p:nvSpPr>
        <p:spPr>
          <a:xfrm>
            <a:off x="6327648" y="3502152"/>
            <a:ext cx="208483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2A93B"/>
                </a:solidFill>
                <a:latin typeface="Calibri"/>
                <a:ea typeface="Calibri"/>
                <a:cs typeface="Calibri"/>
                <a:sym typeface="Calibri"/>
              </a:rPr>
              <a:t>→ </a:t>
            </a:r>
            <a:r>
              <a:rPr b="0" i="1" lang="en-US" sz="1000" u="none" cap="none" strike="noStrike">
                <a:solidFill>
                  <a:srgbClr val="12283A"/>
                </a:solidFill>
                <a:latin typeface="Calibri"/>
                <a:ea typeface="Calibri"/>
                <a:cs typeface="Calibri"/>
                <a:sym typeface="Calibri"/>
              </a:rPr>
              <a:t>Correlate with app version, region &amp; dependency status.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9"/>
          <p:cNvSpPr/>
          <p:nvPr/>
        </p:nvSpPr>
        <p:spPr>
          <a:xfrm>
            <a:off x="640080" y="4005072"/>
            <a:ext cx="7863840" cy="877824"/>
          </a:xfrm>
          <a:prstGeom prst="roundRect">
            <a:avLst>
              <a:gd fmla="val 10417" name="adj"/>
            </a:avLst>
          </a:prstGeom>
          <a:solidFill>
            <a:srgbClr val="0E2A3B"/>
          </a:solidFill>
          <a:ln>
            <a:noFill/>
          </a:ln>
          <a:effectLst>
            <a:outerShdw blurRad="114300" rotWithShape="0" algn="bl" dir="5400000" dist="38100">
              <a:srgbClr val="8FA3B0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9"/>
          <p:cNvSpPr/>
          <p:nvPr/>
        </p:nvSpPr>
        <p:spPr>
          <a:xfrm>
            <a:off x="868680" y="4005072"/>
            <a:ext cx="7406640" cy="8778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1080"/>
              <a:buFont typeface="Calibri"/>
              <a:buNone/>
            </a:pPr>
            <a:r>
              <a:rPr b="1" i="0" lang="en-US" sz="1080" u="none" cap="none" strike="noStrike">
                <a:solidFill>
                  <a:srgbClr val="2DD4BF"/>
                </a:solidFill>
                <a:latin typeface="Calibri"/>
                <a:ea typeface="Calibri"/>
                <a:cs typeface="Calibri"/>
                <a:sym typeface="Calibri"/>
              </a:rPr>
              <a:t>Data I'd pull:  </a:t>
            </a:r>
            <a:r>
              <a:rPr b="0" i="0" lang="en-US" sz="108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funnel by step × platform × region × app-version; verification-callback error logs; completion by time-of-day.</a:t>
            </a:r>
            <a:br>
              <a:rPr b="0" i="0" lang="en-US" sz="108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080" u="none" cap="none" strike="noStrike">
                <a:solidFill>
                  <a:srgbClr val="2DD4BF"/>
                </a:solidFill>
                <a:latin typeface="Calibri"/>
                <a:ea typeface="Calibri"/>
                <a:cs typeface="Calibri"/>
                <a:sym typeface="Calibri"/>
              </a:rPr>
              <a:t>Root cause → next steps:  </a:t>
            </a:r>
            <a:r>
              <a:rPr b="0" i="0" lang="en-US" sz="108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isolate the anomalous step/segment, reproduce, hotfix or escalate the failing dependency, and add alerting on DigiLocker callback success.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9"/>
        </a:solidFill>
      </p:bgPr>
    </p:bg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0"/>
          <p:cNvSpPr/>
          <p:nvPr/>
        </p:nvSpPr>
        <p:spPr>
          <a:xfrm>
            <a:off x="640080" y="457200"/>
            <a:ext cx="7863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4A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FF6B4A"/>
                </a:solidFill>
                <a:latin typeface="Calibri"/>
                <a:ea typeface="Calibri"/>
                <a:cs typeface="Calibri"/>
                <a:sym typeface="Calibri"/>
              </a:rPr>
              <a:t>MONITORING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0"/>
          <p:cNvSpPr/>
          <p:nvPr/>
        </p:nvSpPr>
        <p:spPr>
          <a:xfrm>
            <a:off x="640080" y="777240"/>
            <a:ext cx="79552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0E2A3B"/>
              </a:buClr>
              <a:buSzPts val="2900"/>
              <a:buFont typeface="Calibri"/>
              <a:buNone/>
            </a:pPr>
            <a:r>
              <a:rPr b="1" i="0" lang="en-US" sz="2900" u="none" cap="none" strike="noStrike">
                <a:solidFill>
                  <a:srgbClr val="0E2A3B"/>
                </a:solidFill>
                <a:latin typeface="Calibri"/>
                <a:ea typeface="Calibri"/>
                <a:cs typeface="Calibri"/>
                <a:sym typeface="Calibri"/>
              </a:rPr>
              <a:t>Children's Consent Health — daily dashboard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0"/>
          <p:cNvSpPr/>
          <p:nvPr/>
        </p:nvSpPr>
        <p:spPr>
          <a:xfrm>
            <a:off x="5806440" y="932688"/>
            <a:ext cx="2651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7180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5E7180"/>
                </a:solidFill>
                <a:latin typeface="Calibri"/>
                <a:ea typeface="Calibri"/>
                <a:cs typeface="Calibri"/>
                <a:sym typeface="Calibri"/>
              </a:rPr>
              <a:t>mock data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0"/>
          <p:cNvSpPr/>
          <p:nvPr/>
        </p:nvSpPr>
        <p:spPr>
          <a:xfrm>
            <a:off x="640080" y="1536192"/>
            <a:ext cx="2560320" cy="987552"/>
          </a:xfrm>
          <a:prstGeom prst="roundRect">
            <a:avLst>
              <a:gd fmla="val 11111" name="adj"/>
            </a:avLst>
          </a:prstGeom>
          <a:solidFill>
            <a:srgbClr val="FFFFFF"/>
          </a:solidFill>
          <a:ln>
            <a:noFill/>
          </a:ln>
          <a:effectLst>
            <a:outerShdw blurRad="114300" rotWithShape="0" algn="bl" dir="5400000" dist="38100">
              <a:srgbClr val="8FA3B0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10"/>
          <p:cNvSpPr/>
          <p:nvPr/>
        </p:nvSpPr>
        <p:spPr>
          <a:xfrm>
            <a:off x="868680" y="1645920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7180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5E7180"/>
                </a:solidFill>
                <a:latin typeface="Calibri"/>
                <a:ea typeface="Calibri"/>
                <a:cs typeface="Calibri"/>
                <a:sym typeface="Calibri"/>
              </a:rPr>
              <a:t>Verified-consent coverage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0"/>
          <p:cNvSpPr/>
          <p:nvPr/>
        </p:nvSpPr>
        <p:spPr>
          <a:xfrm>
            <a:off x="850392" y="1883664"/>
            <a:ext cx="21945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A39E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0FA39E"/>
                </a:solidFill>
                <a:latin typeface="Calibri"/>
                <a:ea typeface="Calibri"/>
                <a:cs typeface="Calibri"/>
                <a:sym typeface="Calibri"/>
              </a:rPr>
              <a:t>88.4%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0"/>
          <p:cNvSpPr/>
          <p:nvPr/>
        </p:nvSpPr>
        <p:spPr>
          <a:xfrm>
            <a:off x="868680" y="2286000"/>
            <a:ext cx="21945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83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2283A"/>
                </a:solidFill>
                <a:latin typeface="Calibri"/>
                <a:ea typeface="Calibri"/>
                <a:cs typeface="Calibri"/>
                <a:sym typeface="Calibri"/>
              </a:rPr>
              <a:t>▲ from 61% at launch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0"/>
          <p:cNvSpPr/>
          <p:nvPr/>
        </p:nvSpPr>
        <p:spPr>
          <a:xfrm>
            <a:off x="3355848" y="1536192"/>
            <a:ext cx="2560320" cy="987552"/>
          </a:xfrm>
          <a:prstGeom prst="roundRect">
            <a:avLst>
              <a:gd fmla="val 11111" name="adj"/>
            </a:avLst>
          </a:prstGeom>
          <a:solidFill>
            <a:srgbClr val="FFFFFF"/>
          </a:solidFill>
          <a:ln>
            <a:noFill/>
          </a:ln>
          <a:effectLst>
            <a:outerShdw blurRad="114300" rotWithShape="0" algn="bl" dir="5400000" dist="38100">
              <a:srgbClr val="8FA3B0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10"/>
          <p:cNvSpPr/>
          <p:nvPr/>
        </p:nvSpPr>
        <p:spPr>
          <a:xfrm>
            <a:off x="3584448" y="1645920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7180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5E7180"/>
                </a:solidFill>
                <a:latin typeface="Calibri"/>
                <a:ea typeface="Calibri"/>
                <a:cs typeface="Calibri"/>
                <a:sym typeface="Calibri"/>
              </a:rPr>
              <a:t>Consent completion rate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0"/>
          <p:cNvSpPr/>
          <p:nvPr/>
        </p:nvSpPr>
        <p:spPr>
          <a:xfrm>
            <a:off x="3566160" y="1883664"/>
            <a:ext cx="21945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2A3B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0E2A3B"/>
                </a:solidFill>
                <a:latin typeface="Calibri"/>
                <a:ea typeface="Calibri"/>
                <a:cs typeface="Calibri"/>
                <a:sym typeface="Calibri"/>
              </a:rPr>
              <a:t>87%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0"/>
          <p:cNvSpPr/>
          <p:nvPr/>
        </p:nvSpPr>
        <p:spPr>
          <a:xfrm>
            <a:off x="3584448" y="2286000"/>
            <a:ext cx="21945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83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2283A"/>
                </a:solidFill>
                <a:latin typeface="Calibri"/>
                <a:ea typeface="Calibri"/>
                <a:cs typeface="Calibri"/>
                <a:sym typeface="Calibri"/>
              </a:rPr>
              <a:t>of invited parents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0"/>
          <p:cNvSpPr/>
          <p:nvPr/>
        </p:nvSpPr>
        <p:spPr>
          <a:xfrm>
            <a:off x="6071616" y="1536192"/>
            <a:ext cx="2560320" cy="987552"/>
          </a:xfrm>
          <a:prstGeom prst="roundRect">
            <a:avLst>
              <a:gd fmla="val 11111" name="adj"/>
            </a:avLst>
          </a:prstGeom>
          <a:solidFill>
            <a:srgbClr val="FFFFFF"/>
          </a:solidFill>
          <a:ln>
            <a:noFill/>
          </a:ln>
          <a:effectLst>
            <a:outerShdw blurRad="114300" rotWithShape="0" algn="bl" dir="5400000" dist="38100">
              <a:srgbClr val="8FA3B0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10"/>
          <p:cNvSpPr/>
          <p:nvPr/>
        </p:nvSpPr>
        <p:spPr>
          <a:xfrm>
            <a:off x="6300216" y="1645920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7180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5E7180"/>
                </a:solidFill>
                <a:latin typeface="Calibri"/>
                <a:ea typeface="Calibri"/>
                <a:cs typeface="Calibri"/>
                <a:sym typeface="Calibri"/>
              </a:rPr>
              <a:t>Median time-to-consent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0"/>
          <p:cNvSpPr/>
          <p:nvPr/>
        </p:nvSpPr>
        <p:spPr>
          <a:xfrm>
            <a:off x="6281928" y="1883664"/>
            <a:ext cx="21945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4A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FF6B4A"/>
                </a:solidFill>
                <a:latin typeface="Calibri"/>
                <a:ea typeface="Calibri"/>
                <a:cs typeface="Calibri"/>
                <a:sym typeface="Calibri"/>
              </a:rPr>
              <a:t>1m 42s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0"/>
          <p:cNvSpPr/>
          <p:nvPr/>
        </p:nvSpPr>
        <p:spPr>
          <a:xfrm>
            <a:off x="6300216" y="2286000"/>
            <a:ext cx="21945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83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2283A"/>
                </a:solidFill>
                <a:latin typeface="Calibri"/>
                <a:ea typeface="Calibri"/>
                <a:cs typeface="Calibri"/>
                <a:sym typeface="Calibri"/>
              </a:rPr>
              <a:t>under the 2-min goal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0"/>
          <p:cNvSpPr/>
          <p:nvPr/>
        </p:nvSpPr>
        <p:spPr>
          <a:xfrm>
            <a:off x="640080" y="2670048"/>
            <a:ext cx="4160520" cy="2194560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>
            <a:noFill/>
          </a:ln>
          <a:effectLst>
            <a:outerShdw blurRad="114300" rotWithShape="0" algn="bl" dir="5400000" dist="38100">
              <a:srgbClr val="8FA3B0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10"/>
          <p:cNvSpPr/>
          <p:nvPr/>
        </p:nvSpPr>
        <p:spPr>
          <a:xfrm>
            <a:off x="868680" y="2779776"/>
            <a:ext cx="3749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2A3B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0E2A3B"/>
                </a:solidFill>
                <a:latin typeface="Calibri"/>
                <a:ea typeface="Calibri"/>
                <a:cs typeface="Calibri"/>
                <a:sym typeface="Calibri"/>
              </a:rPr>
              <a:t>Coverage trend — last 8 weeks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1" name="Google Shape;241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7240" y="3127248"/>
            <a:ext cx="3886200" cy="1627632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10"/>
          <p:cNvSpPr/>
          <p:nvPr/>
        </p:nvSpPr>
        <p:spPr>
          <a:xfrm>
            <a:off x="4983480" y="2670048"/>
            <a:ext cx="3520440" cy="2194560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>
            <a:noFill/>
          </a:ln>
          <a:effectLst>
            <a:outerShdw blurRad="114300" rotWithShape="0" algn="bl" dir="5400000" dist="38100">
              <a:srgbClr val="8FA3B0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10"/>
          <p:cNvSpPr/>
          <p:nvPr/>
        </p:nvSpPr>
        <p:spPr>
          <a:xfrm>
            <a:off x="5212080" y="2779776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2A3B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0E2A3B"/>
                </a:solidFill>
                <a:latin typeface="Calibri"/>
                <a:ea typeface="Calibri"/>
                <a:cs typeface="Calibri"/>
                <a:sym typeface="Calibri"/>
              </a:rPr>
              <a:t>Completion rate by platform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4" name="Google Shape;244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74920" y="3127248"/>
            <a:ext cx="3337560" cy="16276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9"/>
        </a:solid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1"/>
          <p:cNvSpPr/>
          <p:nvPr/>
        </p:nvSpPr>
        <p:spPr>
          <a:xfrm>
            <a:off x="640080" y="457200"/>
            <a:ext cx="7863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4A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FF6B4A"/>
                </a:solidFill>
                <a:latin typeface="Calibri"/>
                <a:ea typeface="Calibri"/>
                <a:cs typeface="Calibri"/>
                <a:sym typeface="Calibri"/>
              </a:rPr>
              <a:t>GO-TO-MARKET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1"/>
          <p:cNvSpPr/>
          <p:nvPr/>
        </p:nvSpPr>
        <p:spPr>
          <a:xfrm>
            <a:off x="640080" y="777240"/>
            <a:ext cx="79552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0E2A3B"/>
              </a:buClr>
              <a:buSzPts val="2900"/>
              <a:buFont typeface="Calibri"/>
              <a:buNone/>
            </a:pPr>
            <a:r>
              <a:rPr b="1" i="0" lang="en-US" sz="2900" u="none" cap="none" strike="noStrike">
                <a:solidFill>
                  <a:srgbClr val="0E2A3B"/>
                </a:solidFill>
                <a:latin typeface="Calibri"/>
                <a:ea typeface="Calibri"/>
                <a:cs typeface="Calibri"/>
                <a:sym typeface="Calibri"/>
              </a:rPr>
              <a:t>Ship it safely: shadow → pilot → ramp.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1"/>
          <p:cNvSpPr/>
          <p:nvPr/>
        </p:nvSpPr>
        <p:spPr>
          <a:xfrm>
            <a:off x="640080" y="1645920"/>
            <a:ext cx="1874520" cy="2011680"/>
          </a:xfrm>
          <a:prstGeom prst="roundRect">
            <a:avLst>
              <a:gd fmla="val 5854" name="adj"/>
            </a:avLst>
          </a:prstGeom>
          <a:solidFill>
            <a:srgbClr val="FFFFFF"/>
          </a:solidFill>
          <a:ln>
            <a:noFill/>
          </a:ln>
          <a:effectLst>
            <a:outerShdw blurRad="114300" rotWithShape="0" algn="bl" dir="5400000" dist="38100">
              <a:srgbClr val="8FA3B0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11"/>
          <p:cNvSpPr/>
          <p:nvPr/>
        </p:nvSpPr>
        <p:spPr>
          <a:xfrm>
            <a:off x="859536" y="1874520"/>
            <a:ext cx="566928" cy="566928"/>
          </a:xfrm>
          <a:prstGeom prst="ellipse">
            <a:avLst/>
          </a:prstGeom>
          <a:solidFill>
            <a:srgbClr val="0FA39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54" name="Google Shape;254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6696" y="2011680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11"/>
          <p:cNvSpPr/>
          <p:nvPr/>
        </p:nvSpPr>
        <p:spPr>
          <a:xfrm>
            <a:off x="859536" y="2542032"/>
            <a:ext cx="14630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7180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5E7180"/>
                </a:solidFill>
                <a:latin typeface="Calibri"/>
                <a:ea typeface="Calibri"/>
                <a:cs typeface="Calibri"/>
                <a:sym typeface="Calibri"/>
              </a:rPr>
              <a:t>PHASE 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1"/>
          <p:cNvSpPr/>
          <p:nvPr/>
        </p:nvSpPr>
        <p:spPr>
          <a:xfrm>
            <a:off x="859536" y="2743200"/>
            <a:ext cx="1554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2A3B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E2A3B"/>
                </a:solidFill>
                <a:latin typeface="Calibri"/>
                <a:ea typeface="Calibri"/>
                <a:cs typeface="Calibri"/>
                <a:sym typeface="Calibri"/>
              </a:rPr>
              <a:t>Shadow mode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1"/>
          <p:cNvSpPr/>
          <p:nvPr/>
        </p:nvSpPr>
        <p:spPr>
          <a:xfrm>
            <a:off x="859536" y="3035808"/>
            <a:ext cx="1481328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5E7180"/>
              </a:buClr>
              <a:buSzPts val="960"/>
              <a:buFont typeface="Calibri"/>
              <a:buNone/>
            </a:pPr>
            <a:r>
              <a:rPr b="0" i="0" lang="en-US" sz="960" u="none" cap="none" strike="noStrike">
                <a:solidFill>
                  <a:srgbClr val="5E7180"/>
                </a:solidFill>
                <a:latin typeface="Calibri"/>
                <a:ea typeface="Calibri"/>
                <a:cs typeface="Calibri"/>
                <a:sym typeface="Calibri"/>
              </a:rPr>
              <a:t>Run age detection silently. Size the under-18 base. Zero user impact.</a:t>
            </a:r>
            <a:endParaRPr b="0" i="0" sz="9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8" name="Google Shape;258;p11"/>
          <p:cNvCxnSpPr/>
          <p:nvPr/>
        </p:nvCxnSpPr>
        <p:spPr>
          <a:xfrm>
            <a:off x="2323087" y="2651760"/>
            <a:ext cx="128100" cy="0"/>
          </a:xfrm>
          <a:prstGeom prst="straightConnector1">
            <a:avLst/>
          </a:prstGeom>
          <a:noFill/>
          <a:ln cap="flat" cmpd="sng" w="31750">
            <a:solidFill>
              <a:srgbClr val="2DD4BF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59" name="Google Shape;259;p11"/>
          <p:cNvSpPr/>
          <p:nvPr/>
        </p:nvSpPr>
        <p:spPr>
          <a:xfrm>
            <a:off x="2642616" y="1645920"/>
            <a:ext cx="1874520" cy="2011680"/>
          </a:xfrm>
          <a:prstGeom prst="roundRect">
            <a:avLst>
              <a:gd fmla="val 5854" name="adj"/>
            </a:avLst>
          </a:prstGeom>
          <a:solidFill>
            <a:srgbClr val="FFFFFF"/>
          </a:solidFill>
          <a:ln>
            <a:noFill/>
          </a:ln>
          <a:effectLst>
            <a:outerShdw blurRad="114300" rotWithShape="0" algn="bl" dir="5400000" dist="38100">
              <a:srgbClr val="8FA3B0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11"/>
          <p:cNvSpPr/>
          <p:nvPr/>
        </p:nvSpPr>
        <p:spPr>
          <a:xfrm>
            <a:off x="2862072" y="1874520"/>
            <a:ext cx="566928" cy="566928"/>
          </a:xfrm>
          <a:prstGeom prst="ellipse">
            <a:avLst/>
          </a:prstGeom>
          <a:solidFill>
            <a:srgbClr val="0FA39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61" name="Google Shape;261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999232" y="2011680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11"/>
          <p:cNvSpPr/>
          <p:nvPr/>
        </p:nvSpPr>
        <p:spPr>
          <a:xfrm>
            <a:off x="2862072" y="2542032"/>
            <a:ext cx="14630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7180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5E7180"/>
                </a:solidFill>
                <a:latin typeface="Calibri"/>
                <a:ea typeface="Calibri"/>
                <a:cs typeface="Calibri"/>
                <a:sym typeface="Calibri"/>
              </a:rPr>
              <a:t>PHASE 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1"/>
          <p:cNvSpPr/>
          <p:nvPr/>
        </p:nvSpPr>
        <p:spPr>
          <a:xfrm>
            <a:off x="2862072" y="2743200"/>
            <a:ext cx="1554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2A3B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E2A3B"/>
                </a:solidFill>
                <a:latin typeface="Calibri"/>
                <a:ea typeface="Calibri"/>
                <a:cs typeface="Calibri"/>
                <a:sym typeface="Calibri"/>
              </a:rPr>
              <a:t>Pilot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1"/>
          <p:cNvSpPr/>
          <p:nvPr/>
        </p:nvSpPr>
        <p:spPr>
          <a:xfrm>
            <a:off x="2862072" y="3035808"/>
            <a:ext cx="1481328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5E7180"/>
              </a:buClr>
              <a:buSzPts val="960"/>
              <a:buFont typeface="Calibri"/>
              <a:buNone/>
            </a:pPr>
            <a:r>
              <a:rPr b="0" i="0" lang="en-US" sz="960" u="none" cap="none" strike="noStrike">
                <a:solidFill>
                  <a:srgbClr val="5E7180"/>
                </a:solidFill>
                <a:latin typeface="Calibri"/>
                <a:ea typeface="Calibri"/>
                <a:cs typeface="Calibri"/>
                <a:sym typeface="Calibri"/>
              </a:rPr>
              <a:t>One region, new sign-ups only. Watch completion, drop-off &amp; support load.</a:t>
            </a:r>
            <a:endParaRPr b="0" i="0" sz="9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5" name="Google Shape;265;p11"/>
          <p:cNvCxnSpPr/>
          <p:nvPr/>
        </p:nvCxnSpPr>
        <p:spPr>
          <a:xfrm>
            <a:off x="4325623" y="2651760"/>
            <a:ext cx="128100" cy="0"/>
          </a:xfrm>
          <a:prstGeom prst="straightConnector1">
            <a:avLst/>
          </a:prstGeom>
          <a:noFill/>
          <a:ln cap="flat" cmpd="sng" w="31750">
            <a:solidFill>
              <a:srgbClr val="2DD4BF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66" name="Google Shape;266;p11"/>
          <p:cNvSpPr/>
          <p:nvPr/>
        </p:nvSpPr>
        <p:spPr>
          <a:xfrm>
            <a:off x="4645152" y="1645920"/>
            <a:ext cx="1874520" cy="2011680"/>
          </a:xfrm>
          <a:prstGeom prst="roundRect">
            <a:avLst>
              <a:gd fmla="val 5854" name="adj"/>
            </a:avLst>
          </a:prstGeom>
          <a:solidFill>
            <a:srgbClr val="FFFFFF"/>
          </a:solidFill>
          <a:ln>
            <a:noFill/>
          </a:ln>
          <a:effectLst>
            <a:outerShdw blurRad="114300" rotWithShape="0" algn="bl" dir="5400000" dist="38100">
              <a:srgbClr val="8FA3B0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11"/>
          <p:cNvSpPr/>
          <p:nvPr/>
        </p:nvSpPr>
        <p:spPr>
          <a:xfrm>
            <a:off x="4864608" y="1874520"/>
            <a:ext cx="566928" cy="566928"/>
          </a:xfrm>
          <a:prstGeom prst="ellipse">
            <a:avLst/>
          </a:prstGeom>
          <a:solidFill>
            <a:srgbClr val="FF6B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68" name="Google Shape;268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001768" y="2011680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11"/>
          <p:cNvSpPr/>
          <p:nvPr/>
        </p:nvSpPr>
        <p:spPr>
          <a:xfrm>
            <a:off x="4864608" y="2542032"/>
            <a:ext cx="14630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7180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5E7180"/>
                </a:solidFill>
                <a:latin typeface="Calibri"/>
                <a:ea typeface="Calibri"/>
                <a:cs typeface="Calibri"/>
                <a:sym typeface="Calibri"/>
              </a:rPr>
              <a:t>PHASE 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1"/>
          <p:cNvSpPr/>
          <p:nvPr/>
        </p:nvSpPr>
        <p:spPr>
          <a:xfrm>
            <a:off x="4864608" y="2743200"/>
            <a:ext cx="1554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2A3B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E2A3B"/>
                </a:solidFill>
                <a:latin typeface="Calibri"/>
                <a:ea typeface="Calibri"/>
                <a:cs typeface="Calibri"/>
                <a:sym typeface="Calibri"/>
              </a:rPr>
              <a:t>Staged ramp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1"/>
          <p:cNvSpPr/>
          <p:nvPr/>
        </p:nvSpPr>
        <p:spPr>
          <a:xfrm>
            <a:off x="4864608" y="3035808"/>
            <a:ext cx="1481328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5E7180"/>
              </a:buClr>
              <a:buSzPts val="960"/>
              <a:buFont typeface="Calibri"/>
              <a:buNone/>
            </a:pPr>
            <a:r>
              <a:rPr b="0" i="0" lang="en-US" sz="960" u="none" cap="none" strike="noStrike">
                <a:solidFill>
                  <a:srgbClr val="5E7180"/>
                </a:solidFill>
                <a:latin typeface="Calibri"/>
                <a:ea typeface="Calibri"/>
                <a:cs typeface="Calibri"/>
                <a:sym typeface="Calibri"/>
              </a:rPr>
              <a:t>5% → 25% → 100% of new minor sign-ups, region by region, with a kill-switch.</a:t>
            </a:r>
            <a:endParaRPr b="0" i="0" sz="9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2" name="Google Shape;272;p11"/>
          <p:cNvCxnSpPr/>
          <p:nvPr/>
        </p:nvCxnSpPr>
        <p:spPr>
          <a:xfrm>
            <a:off x="6319039" y="2651760"/>
            <a:ext cx="128100" cy="0"/>
          </a:xfrm>
          <a:prstGeom prst="straightConnector1">
            <a:avLst/>
          </a:prstGeom>
          <a:noFill/>
          <a:ln cap="flat" cmpd="sng" w="31750">
            <a:solidFill>
              <a:srgbClr val="2DD4BF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73" name="Google Shape;273;p11"/>
          <p:cNvSpPr/>
          <p:nvPr/>
        </p:nvSpPr>
        <p:spPr>
          <a:xfrm>
            <a:off x="6647688" y="1645920"/>
            <a:ext cx="1874520" cy="2011680"/>
          </a:xfrm>
          <a:prstGeom prst="roundRect">
            <a:avLst>
              <a:gd fmla="val 5854" name="adj"/>
            </a:avLst>
          </a:prstGeom>
          <a:solidFill>
            <a:srgbClr val="FFFFFF"/>
          </a:solidFill>
          <a:ln>
            <a:noFill/>
          </a:ln>
          <a:effectLst>
            <a:outerShdw blurRad="114300" rotWithShape="0" algn="bl" dir="5400000" dist="38100">
              <a:srgbClr val="8FA3B0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11"/>
          <p:cNvSpPr/>
          <p:nvPr/>
        </p:nvSpPr>
        <p:spPr>
          <a:xfrm>
            <a:off x="6867144" y="1874520"/>
            <a:ext cx="566928" cy="566928"/>
          </a:xfrm>
          <a:prstGeom prst="ellipse">
            <a:avLst/>
          </a:prstGeom>
          <a:solidFill>
            <a:srgbClr val="FF6B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75" name="Google Shape;275;p1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004304" y="2011680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11"/>
          <p:cNvSpPr/>
          <p:nvPr/>
        </p:nvSpPr>
        <p:spPr>
          <a:xfrm>
            <a:off x="6867144" y="2542032"/>
            <a:ext cx="14630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7180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5E7180"/>
                </a:solidFill>
                <a:latin typeface="Calibri"/>
                <a:ea typeface="Calibri"/>
                <a:cs typeface="Calibri"/>
                <a:sym typeface="Calibri"/>
              </a:rPr>
              <a:t>PHASE 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1"/>
          <p:cNvSpPr/>
          <p:nvPr/>
        </p:nvSpPr>
        <p:spPr>
          <a:xfrm>
            <a:off x="6867144" y="2743200"/>
            <a:ext cx="1554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2A3B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E2A3B"/>
                </a:solidFill>
                <a:latin typeface="Calibri"/>
                <a:ea typeface="Calibri"/>
                <a:cs typeface="Calibri"/>
                <a:sym typeface="Calibri"/>
              </a:rPr>
              <a:t>Backfill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1"/>
          <p:cNvSpPr/>
          <p:nvPr/>
        </p:nvSpPr>
        <p:spPr>
          <a:xfrm>
            <a:off x="6867144" y="3035808"/>
            <a:ext cx="1481328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5E7180"/>
              </a:buClr>
              <a:buSzPts val="960"/>
              <a:buFont typeface="Calibri"/>
              <a:buNone/>
            </a:pPr>
            <a:r>
              <a:rPr b="0" i="0" lang="en-US" sz="960" u="none" cap="none" strike="noStrike">
                <a:solidFill>
                  <a:srgbClr val="5E7180"/>
                </a:solidFill>
                <a:latin typeface="Calibri"/>
                <a:ea typeface="Calibri"/>
                <a:cs typeface="Calibri"/>
                <a:sym typeface="Calibri"/>
              </a:rPr>
              <a:t>Prompt existing minor accounts to complete consent before May 2027.</a:t>
            </a:r>
            <a:endParaRPr b="0" i="0" sz="9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1"/>
          <p:cNvSpPr/>
          <p:nvPr/>
        </p:nvSpPr>
        <p:spPr>
          <a:xfrm>
            <a:off x="640080" y="3840480"/>
            <a:ext cx="7863840" cy="1024128"/>
          </a:xfrm>
          <a:prstGeom prst="roundRect">
            <a:avLst>
              <a:gd fmla="val 8036" name="adj"/>
            </a:avLst>
          </a:prstGeom>
          <a:solidFill>
            <a:srgbClr val="EAF6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11"/>
          <p:cNvSpPr/>
          <p:nvPr/>
        </p:nvSpPr>
        <p:spPr>
          <a:xfrm>
            <a:off x="868680" y="3840480"/>
            <a:ext cx="7406640" cy="10241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FA39E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0FA39E"/>
                </a:solidFill>
                <a:latin typeface="Calibri"/>
                <a:ea typeface="Calibri"/>
                <a:cs typeface="Calibri"/>
                <a:sym typeface="Calibri"/>
              </a:rPr>
              <a:t>On A/B testing.  </a:t>
            </a:r>
            <a:r>
              <a:rPr b="0" i="0" lang="en-US" sz="1150" u="none" cap="none" strike="noStrike">
                <a:solidFill>
                  <a:srgbClr val="0E2A3B"/>
                </a:solidFill>
                <a:latin typeface="Calibri"/>
                <a:ea typeface="Calibri"/>
                <a:cs typeface="Calibri"/>
                <a:sym typeface="Calibri"/>
              </a:rPr>
              <a:t>You can't withhold consent from a control group — that would mean unlawfully processing minors' data. So I A/B-test the </a:t>
            </a:r>
            <a:r>
              <a:rPr b="1" i="1" lang="en-US" sz="1150" u="none" cap="none" strike="noStrike">
                <a:solidFill>
                  <a:srgbClr val="0E2A3B"/>
                </a:solidFill>
                <a:latin typeface="Calibri"/>
                <a:ea typeface="Calibri"/>
                <a:cs typeface="Calibri"/>
                <a:sym typeface="Calibri"/>
              </a:rPr>
              <a:t>experience</a:t>
            </a:r>
            <a:r>
              <a:rPr b="0" i="0" lang="en-US" sz="1150" u="none" cap="none" strike="noStrike">
                <a:solidFill>
                  <a:srgbClr val="0E2A3B"/>
                </a:solidFill>
                <a:latin typeface="Calibri"/>
                <a:ea typeface="Calibri"/>
                <a:cs typeface="Calibri"/>
                <a:sym typeface="Calibri"/>
              </a:rPr>
              <a:t> (copy, verification method, reminder cadence) — the </a:t>
            </a:r>
            <a:r>
              <a:rPr b="1" i="1" lang="en-US" sz="1150" u="none" cap="none" strike="noStrike">
                <a:solidFill>
                  <a:srgbClr val="0FA39E"/>
                </a:solidFill>
                <a:latin typeface="Calibri"/>
                <a:ea typeface="Calibri"/>
                <a:cs typeface="Calibri"/>
                <a:sym typeface="Calibri"/>
              </a:rPr>
              <a:t>how</a:t>
            </a:r>
            <a:r>
              <a:rPr b="0" i="0" lang="en-US" sz="1150" u="none" cap="none" strike="noStrike">
                <a:solidFill>
                  <a:srgbClr val="0E2A3B"/>
                </a:solidFill>
                <a:latin typeface="Calibri"/>
                <a:ea typeface="Calibri"/>
                <a:cs typeface="Calibri"/>
                <a:sym typeface="Calibri"/>
              </a:rPr>
              <a:t> — never the </a:t>
            </a:r>
            <a:r>
              <a:rPr b="1" i="1" lang="en-US" sz="1150" u="none" cap="none" strike="noStrike">
                <a:solidFill>
                  <a:srgbClr val="FF6B4A"/>
                </a:solidFill>
                <a:latin typeface="Calibri"/>
                <a:ea typeface="Calibri"/>
                <a:cs typeface="Calibri"/>
                <a:sym typeface="Calibri"/>
              </a:rPr>
              <a:t>whether</a:t>
            </a:r>
            <a:r>
              <a:rPr b="0" i="0" lang="en-US" sz="1150" u="none" cap="none" strike="noStrike">
                <a:solidFill>
                  <a:srgbClr val="0E2A3B"/>
                </a:solidFill>
                <a:latin typeface="Calibri"/>
                <a:ea typeface="Calibri"/>
                <a:cs typeface="Calibri"/>
                <a:sym typeface="Calibri"/>
              </a:rPr>
              <a:t>. The </a:t>
            </a:r>
            <a:r>
              <a:rPr b="1" i="1" lang="en-US" sz="1150" u="none" cap="none" strike="noStrike">
                <a:solidFill>
                  <a:srgbClr val="FF6B4A"/>
                </a:solidFill>
                <a:latin typeface="Calibri"/>
                <a:ea typeface="Calibri"/>
                <a:cs typeface="Calibri"/>
                <a:sym typeface="Calibri"/>
              </a:rPr>
              <a:t>whether</a:t>
            </a:r>
            <a:r>
              <a:rPr b="0" i="0" lang="en-US" sz="1150" u="none" cap="none" strike="noStrike">
                <a:solidFill>
                  <a:srgbClr val="0E2A3B"/>
                </a:solidFill>
                <a:latin typeface="Calibri"/>
                <a:ea typeface="Calibri"/>
                <a:cs typeface="Calibri"/>
                <a:sym typeface="Calibri"/>
              </a:rPr>
              <a:t> is validated through shadow-mode sizing and phased rollout with live guardrail monitoring.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9"/>
        </a:solidFill>
      </p:bgPr>
    </p:bg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12"/>
          <p:cNvSpPr/>
          <p:nvPr/>
        </p:nvSpPr>
        <p:spPr>
          <a:xfrm>
            <a:off x="640080" y="457200"/>
            <a:ext cx="7863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4A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FF6B4A"/>
                </a:solidFill>
                <a:latin typeface="Calibri"/>
                <a:ea typeface="Calibri"/>
                <a:cs typeface="Calibri"/>
                <a:sym typeface="Calibri"/>
              </a:rPr>
              <a:t>RISKS &amp; TRADE-OFFS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2"/>
          <p:cNvSpPr/>
          <p:nvPr/>
        </p:nvSpPr>
        <p:spPr>
          <a:xfrm>
            <a:off x="640080" y="777240"/>
            <a:ext cx="79552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0E2A3B"/>
              </a:buClr>
              <a:buSzPts val="2900"/>
              <a:buFont typeface="Calibri"/>
              <a:buNone/>
            </a:pPr>
            <a:r>
              <a:rPr b="1" i="0" lang="en-US" sz="2900" u="none" cap="none" strike="noStrike">
                <a:solidFill>
                  <a:srgbClr val="0E2A3B"/>
                </a:solidFill>
                <a:latin typeface="Calibri"/>
                <a:ea typeface="Calibri"/>
                <a:cs typeface="Calibri"/>
                <a:sym typeface="Calibri"/>
              </a:rPr>
              <a:t>What could go wrong — and the calls I made.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2"/>
          <p:cNvSpPr/>
          <p:nvPr/>
        </p:nvSpPr>
        <p:spPr>
          <a:xfrm>
            <a:off x="640080" y="1627632"/>
            <a:ext cx="3794760" cy="1170432"/>
          </a:xfrm>
          <a:prstGeom prst="roundRect">
            <a:avLst>
              <a:gd fmla="val 9375" name="adj"/>
            </a:avLst>
          </a:prstGeom>
          <a:solidFill>
            <a:srgbClr val="FFFFFF"/>
          </a:solidFill>
          <a:ln>
            <a:noFill/>
          </a:ln>
          <a:effectLst>
            <a:outerShdw blurRad="114300" rotWithShape="0" algn="bl" dir="5400000" dist="38100">
              <a:srgbClr val="8FA3B0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12"/>
          <p:cNvSpPr/>
          <p:nvPr/>
        </p:nvSpPr>
        <p:spPr>
          <a:xfrm>
            <a:off x="877824" y="1847088"/>
            <a:ext cx="530352" cy="530352"/>
          </a:xfrm>
          <a:prstGeom prst="ellipse">
            <a:avLst/>
          </a:prstGeom>
          <a:solidFill>
            <a:srgbClr val="0FA39E"/>
          </a:solidFill>
          <a:ln>
            <a:noFill/>
          </a:ln>
          <a:effectLst>
            <a:outerShdw blurRad="114300" rotWithShape="0" algn="bl" dir="5400000" dist="38100">
              <a:srgbClr val="8FA3B0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90" name="Google Shape;290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0412" y="1979676"/>
            <a:ext cx="265176" cy="265176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p12"/>
          <p:cNvSpPr/>
          <p:nvPr/>
        </p:nvSpPr>
        <p:spPr>
          <a:xfrm>
            <a:off x="1554480" y="1847088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2A3B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0E2A3B"/>
                </a:solidFill>
                <a:latin typeface="Calibri"/>
                <a:ea typeface="Calibri"/>
                <a:cs typeface="Calibri"/>
                <a:sym typeface="Calibri"/>
              </a:rPr>
              <a:t>Engineering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2"/>
          <p:cNvSpPr/>
          <p:nvPr/>
        </p:nvSpPr>
        <p:spPr>
          <a:xfrm>
            <a:off x="1554480" y="2176272"/>
            <a:ext cx="27432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5E71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E7180"/>
                </a:solidFill>
                <a:latin typeface="Calibri"/>
                <a:ea typeface="Calibri"/>
                <a:cs typeface="Calibri"/>
                <a:sym typeface="Calibri"/>
              </a:rPr>
              <a:t>DigiLocker integration + immutable consent logs are real work, and lean on a government system's uptime.  → Fallback path, caching, alerting.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2"/>
          <p:cNvSpPr/>
          <p:nvPr/>
        </p:nvSpPr>
        <p:spPr>
          <a:xfrm>
            <a:off x="4709160" y="1627632"/>
            <a:ext cx="3794760" cy="1170432"/>
          </a:xfrm>
          <a:prstGeom prst="roundRect">
            <a:avLst>
              <a:gd fmla="val 9375" name="adj"/>
            </a:avLst>
          </a:prstGeom>
          <a:solidFill>
            <a:srgbClr val="FFFFFF"/>
          </a:solidFill>
          <a:ln>
            <a:noFill/>
          </a:ln>
          <a:effectLst>
            <a:outerShdw blurRad="114300" rotWithShape="0" algn="bl" dir="5400000" dist="38100">
              <a:srgbClr val="8FA3B0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12"/>
          <p:cNvSpPr/>
          <p:nvPr/>
        </p:nvSpPr>
        <p:spPr>
          <a:xfrm>
            <a:off x="4946904" y="1847088"/>
            <a:ext cx="530352" cy="530352"/>
          </a:xfrm>
          <a:prstGeom prst="ellipse">
            <a:avLst/>
          </a:prstGeom>
          <a:solidFill>
            <a:srgbClr val="FF6B4A"/>
          </a:solidFill>
          <a:ln>
            <a:noFill/>
          </a:ln>
          <a:effectLst>
            <a:outerShdw blurRad="114300" rotWithShape="0" algn="bl" dir="5400000" dist="38100">
              <a:srgbClr val="8FA3B0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95" name="Google Shape;295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79492" y="1979676"/>
            <a:ext cx="265176" cy="265176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p12"/>
          <p:cNvSpPr/>
          <p:nvPr/>
        </p:nvSpPr>
        <p:spPr>
          <a:xfrm>
            <a:off x="5623560" y="1847088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2A3B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0E2A3B"/>
                </a:solidFill>
                <a:latin typeface="Calibri"/>
                <a:ea typeface="Calibri"/>
                <a:cs typeface="Calibri"/>
                <a:sym typeface="Calibri"/>
              </a:rPr>
              <a:t>Business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2"/>
          <p:cNvSpPr/>
          <p:nvPr/>
        </p:nvSpPr>
        <p:spPr>
          <a:xfrm>
            <a:off x="5623560" y="2176272"/>
            <a:ext cx="27432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5E71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E7180"/>
                </a:solidFill>
                <a:latin typeface="Calibri"/>
                <a:ea typeface="Calibri"/>
                <a:cs typeface="Calibri"/>
                <a:sym typeface="Calibri"/>
              </a:rPr>
              <a:t>Extra steps can dent minor sign-up conversion.  → Accepted: a smaller compliant, trusted base beats a large one carrying ₹200cr risk.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2"/>
          <p:cNvSpPr/>
          <p:nvPr/>
        </p:nvSpPr>
        <p:spPr>
          <a:xfrm>
            <a:off x="640080" y="2907792"/>
            <a:ext cx="3794760" cy="1170432"/>
          </a:xfrm>
          <a:prstGeom prst="roundRect">
            <a:avLst>
              <a:gd fmla="val 9375" name="adj"/>
            </a:avLst>
          </a:prstGeom>
          <a:solidFill>
            <a:srgbClr val="FFFFFF"/>
          </a:solidFill>
          <a:ln>
            <a:noFill/>
          </a:ln>
          <a:effectLst>
            <a:outerShdw blurRad="114300" rotWithShape="0" algn="bl" dir="5400000" dist="38100">
              <a:srgbClr val="8FA3B0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12"/>
          <p:cNvSpPr/>
          <p:nvPr/>
        </p:nvSpPr>
        <p:spPr>
          <a:xfrm>
            <a:off x="877824" y="3127248"/>
            <a:ext cx="530352" cy="530352"/>
          </a:xfrm>
          <a:prstGeom prst="ellipse">
            <a:avLst/>
          </a:prstGeom>
          <a:solidFill>
            <a:srgbClr val="F2A93B"/>
          </a:solidFill>
          <a:ln>
            <a:noFill/>
          </a:ln>
          <a:effectLst>
            <a:outerShdw blurRad="114300" rotWithShape="0" algn="bl" dir="5400000" dist="38100">
              <a:srgbClr val="8FA3B0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00" name="Google Shape;300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10412" y="3259836"/>
            <a:ext cx="265176" cy="265176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p12"/>
          <p:cNvSpPr/>
          <p:nvPr/>
        </p:nvSpPr>
        <p:spPr>
          <a:xfrm>
            <a:off x="1554480" y="3127248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2A3B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0E2A3B"/>
                </a:solidFill>
                <a:latin typeface="Calibri"/>
                <a:ea typeface="Calibri"/>
                <a:cs typeface="Calibri"/>
                <a:sym typeface="Calibri"/>
              </a:rPr>
              <a:t>User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2"/>
          <p:cNvSpPr/>
          <p:nvPr/>
        </p:nvSpPr>
        <p:spPr>
          <a:xfrm>
            <a:off x="1554480" y="3456432"/>
            <a:ext cx="27432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5E71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E7180"/>
                </a:solidFill>
                <a:latin typeface="Calibri"/>
                <a:ea typeface="Calibri"/>
                <a:cs typeface="Calibri"/>
                <a:sym typeface="Calibri"/>
              </a:rPr>
              <a:t>Parents without DigiLocker/Aadhaar, or on shared devices, may struggle.  → Offer an alternate verification path + clear help.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2"/>
          <p:cNvSpPr/>
          <p:nvPr/>
        </p:nvSpPr>
        <p:spPr>
          <a:xfrm>
            <a:off x="4709160" y="2907792"/>
            <a:ext cx="3794760" cy="1170432"/>
          </a:xfrm>
          <a:prstGeom prst="roundRect">
            <a:avLst>
              <a:gd fmla="val 9375" name="adj"/>
            </a:avLst>
          </a:prstGeom>
          <a:solidFill>
            <a:srgbClr val="FFFFFF"/>
          </a:solidFill>
          <a:ln>
            <a:noFill/>
          </a:ln>
          <a:effectLst>
            <a:outerShdw blurRad="114300" rotWithShape="0" algn="bl" dir="5400000" dist="38100">
              <a:srgbClr val="8FA3B0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12"/>
          <p:cNvSpPr/>
          <p:nvPr/>
        </p:nvSpPr>
        <p:spPr>
          <a:xfrm>
            <a:off x="4946904" y="3127248"/>
            <a:ext cx="530352" cy="530352"/>
          </a:xfrm>
          <a:prstGeom prst="ellipse">
            <a:avLst/>
          </a:prstGeom>
          <a:solidFill>
            <a:srgbClr val="0E2A3B"/>
          </a:solidFill>
          <a:ln>
            <a:noFill/>
          </a:ln>
          <a:effectLst>
            <a:outerShdw blurRad="114300" rotWithShape="0" algn="bl" dir="5400000" dist="38100">
              <a:srgbClr val="8FA3B0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05" name="Google Shape;305;p1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079492" y="3259836"/>
            <a:ext cx="265176" cy="265176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p12"/>
          <p:cNvSpPr/>
          <p:nvPr/>
        </p:nvSpPr>
        <p:spPr>
          <a:xfrm>
            <a:off x="5623560" y="3127248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2A3B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0E2A3B"/>
                </a:solidFill>
                <a:latin typeface="Calibri"/>
                <a:ea typeface="Calibri"/>
                <a:cs typeface="Calibri"/>
                <a:sym typeface="Calibri"/>
              </a:rPr>
              <a:t>Edge cases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2"/>
          <p:cNvSpPr/>
          <p:nvPr/>
        </p:nvSpPr>
        <p:spPr>
          <a:xfrm>
            <a:off x="5623560" y="3456432"/>
            <a:ext cx="27432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5E71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E7180"/>
                </a:solidFill>
                <a:latin typeface="Calibri"/>
                <a:ea typeface="Calibri"/>
                <a:cs typeface="Calibri"/>
                <a:sym typeface="Calibri"/>
              </a:rPr>
              <a:t>Declined consent (safe, restricted mode), deletion requests, under-13 vs 13-17, guardian ≠ account holder — all handled explicitly.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2"/>
          <p:cNvSpPr/>
          <p:nvPr/>
        </p:nvSpPr>
        <p:spPr>
          <a:xfrm>
            <a:off x="640080" y="4261104"/>
            <a:ext cx="7863840" cy="786384"/>
          </a:xfrm>
          <a:prstGeom prst="roundRect">
            <a:avLst>
              <a:gd fmla="val 11628" name="adj"/>
            </a:avLst>
          </a:prstGeom>
          <a:solidFill>
            <a:srgbClr val="0E2A3B"/>
          </a:solidFill>
          <a:ln>
            <a:noFill/>
          </a:ln>
          <a:effectLst>
            <a:outerShdw blurRad="114300" rotWithShape="0" algn="bl" dir="5400000" dist="38100">
              <a:srgbClr val="8FA3B0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12"/>
          <p:cNvSpPr/>
          <p:nvPr/>
        </p:nvSpPr>
        <p:spPr>
          <a:xfrm>
            <a:off x="868680" y="4261104"/>
            <a:ext cx="7406640" cy="7863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1180"/>
              <a:buFont typeface="Calibri"/>
              <a:buNone/>
            </a:pPr>
            <a:r>
              <a:rPr b="1" i="0" lang="en-US" sz="1180" u="none" cap="none" strike="noStrike">
                <a:solidFill>
                  <a:srgbClr val="2DD4BF"/>
                </a:solidFill>
                <a:latin typeface="Calibri"/>
                <a:ea typeface="Calibri"/>
                <a:cs typeface="Calibri"/>
                <a:sym typeface="Calibri"/>
              </a:rPr>
              <a:t>The trade I accepted:  </a:t>
            </a:r>
            <a:r>
              <a:rPr b="0" i="0" lang="en-US" sz="118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 little more onboarding friction for minors in exchange for legal safety and durable family trust. Get children's consent right, and privacy stops being a cost — it becomes </a:t>
            </a:r>
            <a:r>
              <a:rPr b="1" i="0" lang="en-US" sz="1180" u="none" cap="none" strike="noStrike">
                <a:solidFill>
                  <a:srgbClr val="2DD4BF"/>
                </a:solidFill>
                <a:latin typeface="Calibri"/>
                <a:ea typeface="Calibri"/>
                <a:cs typeface="Calibri"/>
                <a:sym typeface="Calibri"/>
              </a:rPr>
              <a:t>why families choose you.</a:t>
            </a:r>
            <a:r>
              <a:rPr b="0" i="0" lang="en-US" sz="1180" u="none" cap="none" strike="noStrike">
                <a:solidFill>
                  <a:srgbClr val="7E96A6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1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